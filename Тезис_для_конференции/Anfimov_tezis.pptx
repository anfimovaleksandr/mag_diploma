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69" r:id="rId4"/>
    <p:sldId id="271" r:id="rId5"/>
    <p:sldId id="274" r:id="rId6"/>
    <p:sldId id="272" r:id="rId7"/>
    <p:sldId id="273" r:id="rId8"/>
    <p:sldId id="275" r:id="rId9"/>
    <p:sldId id="267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26634-CE2F-4DD7-8FF3-A2AF8CEFAA4F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371D2-86CC-402C-A2D2-EB78B9252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30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371D2-86CC-402C-A2D2-EB78B925299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304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770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86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464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43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7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74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55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46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78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159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63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4C78990-BC74-4702-B11E-A02B45A34803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32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77998-A4CF-F063-FCB7-A98A86FF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6" y="1289303"/>
            <a:ext cx="10579607" cy="3339303"/>
          </a:xfrm>
          <a:ln>
            <a:noFill/>
          </a:ln>
        </p:spPr>
        <p:txBody>
          <a:bodyPr vert="horz" lIns="274320" tIns="182880" rIns="274320" bIns="182880" rtlCol="0" anchor="ctr" anchorCtr="1">
            <a:no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энтропийныЙ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ПОДХОД ДЛЯ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робастноГО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ОцениваниЯ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регрессионных зависимостей</a:t>
            </a:r>
            <a:endParaRPr lang="en-US" sz="3200" kern="1200" cap="all" spc="200" baseline="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EE8E8-5C77-BF5F-64B3-35A305B88EF9}"/>
              </a:ext>
            </a:extLst>
          </p:cNvPr>
          <p:cNvSpPr txBox="1"/>
          <p:nvPr/>
        </p:nvSpPr>
        <p:spPr>
          <a:xfrm>
            <a:off x="662255" y="5591663"/>
            <a:ext cx="10828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Анфимов А. Д.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Организация: Московский физико-технический институт (национальный исследовательский университет)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Дата: 04.04.2026</a:t>
            </a:r>
          </a:p>
        </p:txBody>
      </p:sp>
    </p:spTree>
    <p:extLst>
      <p:ext uri="{BB962C8B-B14F-4D97-AF65-F5344CB8AC3E}">
        <p14:creationId xmlns:p14="http://schemas.microsoft.com/office/powerpoint/2010/main" val="340373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06EC55-C903-76F6-3778-39E511D2B31D}"/>
              </a:ext>
            </a:extLst>
          </p:cNvPr>
          <p:cNvSpPr txBox="1"/>
          <p:nvPr/>
        </p:nvSpPr>
        <p:spPr>
          <a:xfrm>
            <a:off x="3895750" y="0"/>
            <a:ext cx="4400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и актуальность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769B2-799A-2018-0427-DE5F4DA226CC}"/>
              </a:ext>
            </a:extLst>
          </p:cNvPr>
          <p:cNvSpPr txBox="1"/>
          <p:nvPr/>
        </p:nvSpPr>
        <p:spPr>
          <a:xfrm>
            <a:off x="387790" y="523220"/>
            <a:ext cx="11416420" cy="482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построения регрессионных моделей: 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Классический МНК требует выполнения стандартных условий (нормальность ошибок, достаточный для точности объём выборки)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Непараметрические методы (ядерная регрессия) не эффективны при малом количестве точек</a:t>
            </a:r>
          </a:p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новизна: 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модифицированного энтропийного метода с «мягкой» рандомизацией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оценке регрессии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ядерной регрессией на синтетических данных с различными распределениями ошибок</a:t>
            </a:r>
          </a:p>
        </p:txBody>
      </p:sp>
    </p:spTree>
    <p:extLst>
      <p:ext uri="{BB962C8B-B14F-4D97-AF65-F5344CB8AC3E}">
        <p14:creationId xmlns:p14="http://schemas.microsoft.com/office/powerpoint/2010/main" val="202958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761D-8F29-C587-E7E2-A5E1232C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04444-3DDA-9E0C-80F3-B04881397336}"/>
              </a:ext>
            </a:extLst>
          </p:cNvPr>
          <p:cNvSpPr txBox="1"/>
          <p:nvPr/>
        </p:nvSpPr>
        <p:spPr>
          <a:xfrm>
            <a:off x="3895750" y="0"/>
            <a:ext cx="4781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1A848-C0CA-FEEC-A160-E16E2D8D9878}"/>
              </a:ext>
            </a:extLst>
          </p:cNvPr>
          <p:cNvSpPr txBox="1"/>
          <p:nvPr/>
        </p:nvSpPr>
        <p:spPr>
          <a:xfrm>
            <a:off x="578194" y="523220"/>
            <a:ext cx="11416420" cy="412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  <a:p>
            <a:pPr>
              <a:lnSpc>
                <a:spcPct val="2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робастных оценок регрессии на малых выборках без предположений о виде распределения ошибок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 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энтропийный метод оценивания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Сравнить с ядерной регрессией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чувствительность решения к различным уровням шума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8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A7F7-59A6-4C32-9FB4-373DFE45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8B456-C065-EBF3-B7B7-9D07C5DA29C2}"/>
              </a:ext>
            </a:extLst>
          </p:cNvPr>
          <p:cNvSpPr txBox="1"/>
          <p:nvPr/>
        </p:nvSpPr>
        <p:spPr>
          <a:xfrm>
            <a:off x="3239542" y="0"/>
            <a:ext cx="3673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Энтропийный подход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/>
              <p:nvPr/>
            </p:nvSpPr>
            <p:spPr>
              <a:xfrm>
                <a:off x="525100" y="599122"/>
                <a:ext cx="11416420" cy="565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классического энтропийного метода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[2]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оцениваемая зависимость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представляет собой модель с параметрами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количество параметров, т. е.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ошибки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предполагаются непрерывными случайными величинами, которые определены на некоторых интервалах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Целью является восстановление по данным оптимальных функций плотности распределения (ФПР) случайных величин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путем максимизации функционала информационной энтропии: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e>
                          </m:nary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nary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→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00" y="599122"/>
                <a:ext cx="11416420" cy="5659755"/>
              </a:xfrm>
              <a:prstGeom prst="rect">
                <a:avLst/>
              </a:prstGeom>
              <a:blipFill>
                <a:blip r:embed="rId2"/>
                <a:stretch>
                  <a:fillRect l="-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59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9ED9-9111-2160-EE0E-3ACEFF14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EE030-DBF6-ADB8-A0E2-3FA09E29B6D9}"/>
              </a:ext>
            </a:extLst>
          </p:cNvPr>
          <p:cNvSpPr txBox="1"/>
          <p:nvPr/>
        </p:nvSpPr>
        <p:spPr>
          <a:xfrm>
            <a:off x="3239542" y="0"/>
            <a:ext cx="3772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Энтропийный подход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7D71E8-C046-2B30-E902-BE71C9AB1A4A}"/>
                  </a:ext>
                </a:extLst>
              </p:cNvPr>
              <p:cNvSpPr txBox="1"/>
              <p:nvPr/>
            </p:nvSpPr>
            <p:spPr>
              <a:xfrm>
                <a:off x="457199" y="688064"/>
                <a:ext cx="11552222" cy="5802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«мягкого» энтропийного метода: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Используется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гельдерова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норма разности невязки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Задача сводится к максимизации функционала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ru-RU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объединяющего энтропию, «эмпирический риск» [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и среднюю норму ошибок, при условиях нормировки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учета ограничений вводится функционал Лагранжа, а условия оптимальности через производные Гато. Решение задачи в общем виде имеет вид: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𝑑𝑎</m:t>
                                  </m:r>
                                </m:e>
                              </m:nary>
                            </m:den>
                          </m:f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eqArr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nary>
                            </m:den>
                          </m:f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В качестве нормы в данном исследовании берется комбинация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норм: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7D71E8-C046-2B30-E902-BE71C9AB1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688064"/>
                <a:ext cx="11552222" cy="5802679"/>
              </a:xfrm>
              <a:prstGeom prst="rect">
                <a:avLst/>
              </a:prstGeom>
              <a:blipFill>
                <a:blip r:embed="rId2"/>
                <a:stretch>
                  <a:fillRect l="-422" r="-8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4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F301-507D-2287-D63E-51DCF913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AFDB0-D9B3-1ED6-2B5C-222E641BBD8E}"/>
              </a:ext>
            </a:extLst>
          </p:cNvPr>
          <p:cNvSpPr txBox="1"/>
          <p:nvPr/>
        </p:nvSpPr>
        <p:spPr>
          <a:xfrm>
            <a:off x="4235426" y="0"/>
            <a:ext cx="3721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эксперимента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6409C70B-EC06-CA28-3455-4AE195FFE9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2752531"/>
                  </p:ext>
                </p:extLst>
              </p:nvPr>
            </p:nvGraphicFramePr>
            <p:xfrm>
              <a:off x="597528" y="719666"/>
              <a:ext cx="11362100" cy="490575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681050">
                      <a:extLst>
                        <a:ext uri="{9D8B030D-6E8A-4147-A177-3AD203B41FA5}">
                          <a16:colId xmlns:a16="http://schemas.microsoft.com/office/drawing/2014/main" val="1971457776"/>
                        </a:ext>
                      </a:extLst>
                    </a:gridCol>
                    <a:gridCol w="5681050">
                      <a:extLst>
                        <a:ext uri="{9D8B030D-6E8A-4147-A177-3AD203B41FA5}">
                          <a16:colId xmlns:a16="http://schemas.microsoft.com/office/drawing/2014/main" val="3130032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Значение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1454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Объём выборки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точек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9299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Степени полинома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5780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Распределения ошибок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Лапласа, </a:t>
                          </a:r>
                          <a:r>
                            <a:rPr lang="ru-RU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Гумбеля</a:t>
                          </a: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ru-RU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Тьюки</a:t>
                          </a: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и др. (30 типов)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99014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Уровни шума (коэффициент детерминации </a:t>
                          </a: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0.95 (низкий), 0.9 (средний), 0.8 (высокий)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32677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Количество датасетов на комбинацию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979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Методы ядерной регрессии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Правило Сильвермана, 5-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fold CV, LOOCV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009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 подбора степени полинома и параметров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и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632+ </a:t>
                          </a:r>
                          <a:r>
                            <a:rPr lang="ru-RU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бутстрап</a:t>
                          </a: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[5]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4555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Метрики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среднеквадратичная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(IMSE)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средняя абсолютная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(IMAE)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Максимальная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MaxErr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85415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6409C70B-EC06-CA28-3455-4AE195FFE9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2752531"/>
                  </p:ext>
                </p:extLst>
              </p:nvPr>
            </p:nvGraphicFramePr>
            <p:xfrm>
              <a:off x="597528" y="719666"/>
              <a:ext cx="11362100" cy="490575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681050">
                      <a:extLst>
                        <a:ext uri="{9D8B030D-6E8A-4147-A177-3AD203B41FA5}">
                          <a16:colId xmlns:a16="http://schemas.microsoft.com/office/drawing/2014/main" val="1971457776"/>
                        </a:ext>
                      </a:extLst>
                    </a:gridCol>
                    <a:gridCol w="5681050">
                      <a:extLst>
                        <a:ext uri="{9D8B030D-6E8A-4147-A177-3AD203B41FA5}">
                          <a16:colId xmlns:a16="http://schemas.microsoft.com/office/drawing/2014/main" val="3130032351"/>
                        </a:ext>
                      </a:extLst>
                    </a:gridCol>
                  </a:tblGrid>
                  <a:tr h="4536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Значение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1454925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Объём выборки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точек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9299585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Степени полинома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5780984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Распределения ошибок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Лапласа, </a:t>
                          </a:r>
                          <a:r>
                            <a:rPr lang="ru-RU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Гумбеля</a:t>
                          </a: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ru-RU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Тьюки</a:t>
                          </a: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и др. (30 типов)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9901445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Уровни шума (коэффициент детерминации </a:t>
                          </a: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0.95 (низкий), 0.9 (средний), 0.8 (высокий)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3267744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Количество датасетов на комбинацию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979560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Методы ядерной регрессии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Правило Сильвермана, 5-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fold CV, LOOCV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009549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15" t="-696000" r="-10053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632+ </a:t>
                          </a:r>
                          <a:r>
                            <a:rPr lang="ru-RU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бутстрап</a:t>
                          </a: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[5]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4555003"/>
                      </a:ext>
                    </a:extLst>
                  </a:tr>
                  <a:tr h="127660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Метрики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среднеквадратичная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(IMSE)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средняя абсолютная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(IMAE)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Максимальная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MaxErr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85415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7955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211F-D840-3878-739B-16E35221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5A710-51E0-CE7A-E81F-72C3AEBEF811}"/>
              </a:ext>
            </a:extLst>
          </p:cNvPr>
          <p:cNvSpPr txBox="1"/>
          <p:nvPr/>
        </p:nvSpPr>
        <p:spPr>
          <a:xfrm>
            <a:off x="5070591" y="0"/>
            <a:ext cx="2050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52EA5-F14C-5529-A879-73D9A7899A90}"/>
              </a:ext>
            </a:extLst>
          </p:cNvPr>
          <p:cNvSpPr txBox="1"/>
          <p:nvPr/>
        </p:nvSpPr>
        <p:spPr>
          <a:xfrm>
            <a:off x="525101" y="932507"/>
            <a:ext cx="11416420" cy="1294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наблюдения: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Энтропийный метод демонстрирует эффективность при всех уровнях шума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Наибольшее улучшение достигнуто для полинома 2-й степени (-63% к ядерной регрессии)</a:t>
            </a:r>
          </a:p>
        </p:txBody>
      </p:sp>
      <p:pic>
        <p:nvPicPr>
          <p:cNvPr id="4" name="Рисунок 3" descr="Изображение выглядит как диаграмма, линия, График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A465BF-FA1C-A0CD-A6EE-6D6A9B3DC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02" y="2444616"/>
            <a:ext cx="11329595" cy="3734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E6FE7F-F128-49D0-1F99-DF46F2CF9BD3}"/>
              </a:ext>
            </a:extLst>
          </p:cNvPr>
          <p:cNvSpPr txBox="1"/>
          <p:nvPr/>
        </p:nvSpPr>
        <p:spPr>
          <a:xfrm>
            <a:off x="1995157" y="6179420"/>
            <a:ext cx="8476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Рис.1. Сравнение лучших оценок ядерного и энтропийного метода по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382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17CF9-11BB-8E92-9837-8CEB2324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52EBD2-34A3-7824-147E-0C9CB9A9B380}"/>
              </a:ext>
            </a:extLst>
          </p:cNvPr>
          <p:cNvSpPr txBox="1"/>
          <p:nvPr/>
        </p:nvSpPr>
        <p:spPr>
          <a:xfrm>
            <a:off x="5018237" y="0"/>
            <a:ext cx="2155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119950-4F22-A952-AE41-BFD3A317FB05}"/>
                  </a:ext>
                </a:extLst>
              </p:cNvPr>
              <p:cNvSpPr txBox="1"/>
              <p:nvPr/>
            </p:nvSpPr>
            <p:spPr>
              <a:xfrm>
                <a:off x="387790" y="523220"/>
                <a:ext cx="11416420" cy="4214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Выводы:</a:t>
                </a:r>
              </a:p>
              <a:p>
                <a:pPr marL="285750" indent="-2857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На малых выборках (n=30) кросс-валидация </a:t>
                </a:r>
                <a:r>
                  <a:rPr lang="ru-RU" b="1" dirty="0"/>
                  <a:t>нестабильна</a:t>
                </a:r>
                <a:r>
                  <a:rPr lang="en-US" dirty="0"/>
                  <a:t>;</a:t>
                </a:r>
              </a:p>
              <a:p>
                <a:pPr marL="285750" indent="-2857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Энтропийный метод статистически эффективнее в </a:t>
                </a:r>
                <a:r>
                  <a:rPr lang="ru-RU" b="1" dirty="0"/>
                  <a:t>большинстве конфигураций</a:t>
                </a:r>
                <a:endParaRPr lang="en-US" b="1" dirty="0"/>
              </a:p>
              <a:p>
                <a:pPr marL="285750" indent="-2857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Метод </a:t>
                </a:r>
                <a:r>
                  <a:rPr lang="ru-RU" b="1" dirty="0"/>
                  <a:t>робастен</a:t>
                </a:r>
                <a:r>
                  <a:rPr lang="ru-RU" dirty="0"/>
                  <a:t> к распределению ошибок (не требует нормальности)</a:t>
                </a:r>
                <a:endParaRPr lang="en-US" dirty="0"/>
              </a:p>
              <a:p>
                <a:pPr marL="285750" indent="-2857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Работает устойчиво при </a:t>
                </a:r>
                <a:r>
                  <a:rPr lang="ru-RU" b="1" dirty="0"/>
                  <a:t>малом объёме выборки</a:t>
                </a:r>
                <a:r>
                  <a:rPr lang="ru-RU" dirty="0"/>
                  <a:t> (n=30)</a:t>
                </a:r>
                <a:endParaRPr lang="en-US" dirty="0"/>
              </a:p>
              <a:p>
                <a:pPr marL="285750" indent="-2857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Наибольший выигрыш для </a:t>
                </a:r>
                <a:r>
                  <a:rPr lang="ru-RU" b="1" dirty="0"/>
                  <a:t>низкого уровня шума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𝟗𝟓</m:t>
                        </m:r>
                      </m:e>
                    </m:d>
                  </m:oMath>
                </a14:m>
                <a:r>
                  <a:rPr lang="ru-RU" b="1" dirty="0"/>
                  <a:t> </a:t>
                </a:r>
                <a:r>
                  <a:rPr lang="ru-RU" dirty="0"/>
                  <a:t>и</a:t>
                </a:r>
                <a:r>
                  <a:rPr lang="ru-RU" b="1" dirty="0"/>
                  <a:t> полиномов низкой степени</a:t>
                </a:r>
                <a:r>
                  <a:rPr lang="ru-RU" dirty="0"/>
                  <a:t> </a:t>
                </a:r>
                <a:r>
                  <a:rPr lang="ru-RU" b="1" dirty="0"/>
                  <a:t>(</a:t>
                </a:r>
                <a:r>
                  <a:rPr lang="en-US" b="1" dirty="0"/>
                  <a:t>2-3</a:t>
                </a:r>
                <a:r>
                  <a:rPr lang="ru-RU" b="1" dirty="0"/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119950-4F22-A952-AE41-BFD3A317F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90" y="523220"/>
                <a:ext cx="11416420" cy="4214615"/>
              </a:xfrm>
              <a:prstGeom prst="rect">
                <a:avLst/>
              </a:prstGeom>
              <a:blipFill>
                <a:blip r:embed="rId2"/>
                <a:stretch>
                  <a:fillRect l="-481" b="-11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014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67235-B120-5DC2-02D3-EDE466B4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D6835F-F652-25A6-F645-229017968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12F587-5BFE-2158-1B6E-84D728510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E410B-DACE-F062-AFA8-296F905A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Autofit/>
          </a:bodyPr>
          <a:lstStyle/>
          <a:p>
            <a:r>
              <a:rPr lang="ru-RU" sz="3200" dirty="0"/>
              <a:t>Спасибо за внимание</a:t>
            </a:r>
            <a:endParaRPr lang="en-US" sz="3200" kern="1200" cap="all" spc="200" baseline="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2713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088B1-270F-467A-485B-FE41C3B7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06851-A264-79D0-5147-2CE6E03FBAAF}"/>
              </a:ext>
            </a:extLst>
          </p:cNvPr>
          <p:cNvSpPr txBox="1"/>
          <p:nvPr/>
        </p:nvSpPr>
        <p:spPr>
          <a:xfrm>
            <a:off x="4376426" y="0"/>
            <a:ext cx="3439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литературы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7EB01-75EB-F47F-3EB8-B95AA247CC82}"/>
              </a:ext>
            </a:extLst>
          </p:cNvPr>
          <p:cNvSpPr txBox="1"/>
          <p:nvPr/>
        </p:nvSpPr>
        <p:spPr>
          <a:xfrm>
            <a:off x="387790" y="523220"/>
            <a:ext cx="11416420" cy="6211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Дубнов Ю. А., Булычев А. В.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Приближенное оценивание с помощью ускоренного метода наибольшей энтропии. Часть 1. Постановка задачи и реализация для задачи регрессии // Информационные технологии и вычислительные системы. 2022.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 4. С. 69–80.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Golan A., Judge G. G., Miller D.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Entropy Econometrics: Robust Estimation with Limited Data. — Chichester: John Wiley and Sons Ltd., 1996.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Воеводин В. В., Кузнецов Ю. А.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Матрицы и вычисления. — М.: Наука, 1984.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Цыпкин Я. З.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теории обучающихся систем. — М.: Наука, 1970.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Efron B.,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on cross-validation: the 632+ bootstrap method // J. Am. Stat. Assoc. 1997. V. 92(438). P. 548–560.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17564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646</TotalTime>
  <Words>674</Words>
  <Application>Microsoft Office PowerPoint</Application>
  <PresentationFormat>Широкоэкранный</PresentationFormat>
  <Paragraphs>76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Aptos</vt:lpstr>
      <vt:lpstr>Arial</vt:lpstr>
      <vt:lpstr>Cambria Math</vt:lpstr>
      <vt:lpstr>Corbel</vt:lpstr>
      <vt:lpstr>Gill Sans MT</vt:lpstr>
      <vt:lpstr>Times New Roman</vt:lpstr>
      <vt:lpstr>Посылка</vt:lpstr>
      <vt:lpstr>энтропийныЙ ПОДХОД ДЛЯ робастноГО ОцениваниЯ регрессионных зависимостей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энтропийныЙ ПОДХОД ДЛЯ робастноГО ОцениваниЯЕ регрессионных зависимостей энтропийным методом с УЧЕТОМ  на малых выборках с ненормальными ошибками</dc:title>
  <dc:creator>Анфимов Александр Дмитриевич</dc:creator>
  <cp:lastModifiedBy>Александр Анфимов</cp:lastModifiedBy>
  <cp:revision>21</cp:revision>
  <dcterms:created xsi:type="dcterms:W3CDTF">2024-12-16T13:09:05Z</dcterms:created>
  <dcterms:modified xsi:type="dcterms:W3CDTF">2026-04-02T14:05:48Z</dcterms:modified>
</cp:coreProperties>
</file>