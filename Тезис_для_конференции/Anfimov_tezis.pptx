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2"/>
  </p:notesMasterIdLst>
  <p:sldIdLst>
    <p:sldId id="256" r:id="rId2"/>
    <p:sldId id="257" r:id="rId3"/>
    <p:sldId id="269" r:id="rId4"/>
    <p:sldId id="271" r:id="rId5"/>
    <p:sldId id="274" r:id="rId6"/>
    <p:sldId id="272" r:id="rId7"/>
    <p:sldId id="273" r:id="rId8"/>
    <p:sldId id="275" r:id="rId9"/>
    <p:sldId id="276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626634-CE2F-4DD7-8FF3-A2AF8CEFAA4F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371D2-86CC-402C-A2D2-EB78B92529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8303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1770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865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04641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0431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70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5749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552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46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5785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2159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663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D4C78990-BC74-4702-B11E-A02B45A34803}" type="datetimeFigureOut">
              <a:rPr lang="ru-RU" smtClean="0"/>
              <a:t>20.03.2026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532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4167985-D6E9-40FF-97C0-4B6D373E8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68" y="640080"/>
            <a:ext cx="10911865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801362-349C-44BE-BEF6-8E926E1D3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A77998-A4CF-F063-FCB7-A98A86FF3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1289303"/>
            <a:ext cx="10579607" cy="3339303"/>
          </a:xfrm>
          <a:ln>
            <a:noFill/>
          </a:ln>
        </p:spPr>
        <p:txBody>
          <a:bodyPr vert="horz" lIns="274320" tIns="182880" rIns="274320" bIns="182880" rtlCol="0" anchor="ctr" anchorCtr="1">
            <a:noAutofit/>
          </a:bodyPr>
          <a:lstStyle/>
          <a:p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ПОДХОД ДЛЯ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робастноГО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ОцениваниЯ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регрессионных зависимостей</a:t>
            </a:r>
            <a:endParaRPr lang="en-US" sz="3200" kern="1200" cap="all" spc="200" baseline="0" dirty="0">
              <a:solidFill>
                <a:srgbClr val="26262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4EE8E8-5C77-BF5F-64B3-35A305B88EF9}"/>
              </a:ext>
            </a:extLst>
          </p:cNvPr>
          <p:cNvSpPr txBox="1"/>
          <p:nvPr/>
        </p:nvSpPr>
        <p:spPr>
          <a:xfrm>
            <a:off x="662255" y="5591663"/>
            <a:ext cx="108288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А. Д.</a:t>
            </a: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Организация: Московский физико-технический институт (национальный исследовательский университет)</a:t>
            </a: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01.04.2026</a:t>
            </a:r>
          </a:p>
        </p:txBody>
      </p:sp>
    </p:spTree>
    <p:extLst>
      <p:ext uri="{BB962C8B-B14F-4D97-AF65-F5344CB8AC3E}">
        <p14:creationId xmlns:p14="http://schemas.microsoft.com/office/powerpoint/2010/main" val="3403736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06EC55-C903-76F6-3778-39E511D2B31D}"/>
              </a:ext>
            </a:extLst>
          </p:cNvPr>
          <p:cNvSpPr txBox="1"/>
          <p:nvPr/>
        </p:nvSpPr>
        <p:spPr>
          <a:xfrm>
            <a:off x="3895750" y="0"/>
            <a:ext cx="4400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и актуальность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769B2-799A-2018-0427-DE5F4DA226CC}"/>
              </a:ext>
            </a:extLst>
          </p:cNvPr>
          <p:cNvSpPr txBox="1"/>
          <p:nvPr/>
        </p:nvSpPr>
        <p:spPr>
          <a:xfrm>
            <a:off x="387790" y="523220"/>
            <a:ext cx="11416420" cy="5513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построения регрессионных моделей: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Классический МНК требует выполнения стандартных условий (нормальность ошибок, достаточный для точности объём выборки)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Непараметрические методы (ядерная регрессия) не эффективны при малом количестве точек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реальности часто объем данных ограничен и ошибки не нормальны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Научная новизна: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модифицированного энтропийного метода с «мягкой» рандомизацией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 оценке регрессии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 ядерной регрессией на синтетических данных с различными распределениями ошибок</a:t>
            </a:r>
          </a:p>
        </p:txBody>
      </p:sp>
    </p:spTree>
    <p:extLst>
      <p:ext uri="{BB962C8B-B14F-4D97-AF65-F5344CB8AC3E}">
        <p14:creationId xmlns:p14="http://schemas.microsoft.com/office/powerpoint/2010/main" val="2029585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0761D-8F29-C587-E7E2-A5E1232C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704444-3DDA-9E0C-80F3-B04881397336}"/>
              </a:ext>
            </a:extLst>
          </p:cNvPr>
          <p:cNvSpPr txBox="1"/>
          <p:nvPr/>
        </p:nvSpPr>
        <p:spPr>
          <a:xfrm>
            <a:off x="3895750" y="0"/>
            <a:ext cx="4781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исследования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1A848-C0CA-FEEC-A160-E16E2D8D9878}"/>
              </a:ext>
            </a:extLst>
          </p:cNvPr>
          <p:cNvSpPr txBox="1"/>
          <p:nvPr/>
        </p:nvSpPr>
        <p:spPr>
          <a:xfrm>
            <a:off x="578194" y="523220"/>
            <a:ext cx="11416420" cy="412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</a:p>
          <a:p>
            <a:pPr>
              <a:lnSpc>
                <a:spcPct val="2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Построение робастных оценок регрессии на малых выборках без предположений о виде распределения ошибок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  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энтропийный метод оценивания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Сравнить с ядерной регрессией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Оценить чувствительность решения к различным видам шума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78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3239542" y="0"/>
            <a:ext cx="3673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 подход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/>
              <p:nvPr/>
            </p:nvSpPr>
            <p:spPr>
              <a:xfrm>
                <a:off x="525100" y="599122"/>
                <a:ext cx="11416420" cy="5659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классического энтропийного метода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[2]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оцениваемая зависимость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представляет собой модель с параметрами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i="1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количество параметров, т. е.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ошибки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предполагаются непрерывными случайными величинами, которые определены на некоторых интервалах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Целью является восстановление по данным оптимальных функций плотности распределения (ФПР) случайных величин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путем максимизации функционала информационной энтропии: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=−</m:t>
                          </m:r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𝑑𝑎</m:t>
                              </m:r>
                            </m:e>
                          </m:nary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nary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→</m:t>
                          </m:r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func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0" y="599122"/>
                <a:ext cx="11416420" cy="5659755"/>
              </a:xfrm>
              <a:prstGeom prst="rect">
                <a:avLst/>
              </a:prstGeom>
              <a:blipFill>
                <a:blip r:embed="rId2"/>
                <a:stretch>
                  <a:fillRect l="-4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597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D9ED9-9111-2160-EE0E-3ACEFF149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DEE030-DBF6-ADB8-A0E2-3FA09E29B6D9}"/>
              </a:ext>
            </a:extLst>
          </p:cNvPr>
          <p:cNvSpPr txBox="1"/>
          <p:nvPr/>
        </p:nvSpPr>
        <p:spPr>
          <a:xfrm>
            <a:off x="3239542" y="0"/>
            <a:ext cx="3772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 подход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7D71E8-C046-2B30-E902-BE71C9AB1A4A}"/>
                  </a:ext>
                </a:extLst>
              </p:cNvPr>
              <p:cNvSpPr txBox="1"/>
              <p:nvPr/>
            </p:nvSpPr>
            <p:spPr>
              <a:xfrm>
                <a:off x="457199" y="688064"/>
                <a:ext cx="11552222" cy="58026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«мягкого» энтропийного метода: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Используется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гельдерова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норма разности невязки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[3]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 Задача сводится к максимизации функционала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ru-RU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объединяющего энтропию, «эмпирический риск» [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 и среднюю норму ошибок, при условиях нормировки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учета ограничений вводится функционал Лагранжа, а условия оптимальности через производные Гато. Решение задачи в общем виде имеет вид: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𝑑𝑎</m:t>
                                  </m:r>
                                </m:e>
                              </m:nary>
                            </m:den>
                          </m:f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nary>
                            </m:den>
                          </m:f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В качестве нормы в данном исследовании берется комбинация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7D71E8-C046-2B30-E902-BE71C9AB1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688064"/>
                <a:ext cx="11552222" cy="5802679"/>
              </a:xfrm>
              <a:prstGeom prst="rect">
                <a:avLst/>
              </a:prstGeom>
              <a:blipFill>
                <a:blip r:embed="rId2"/>
                <a:stretch>
                  <a:fillRect l="-422" r="-8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449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F301-507D-2287-D63E-51DCF9134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AAFDB0-D9B3-1ED6-2B5C-222E641BBD8E}"/>
              </a:ext>
            </a:extLst>
          </p:cNvPr>
          <p:cNvSpPr txBox="1"/>
          <p:nvPr/>
        </p:nvSpPr>
        <p:spPr>
          <a:xfrm>
            <a:off x="4235426" y="0"/>
            <a:ext cx="3721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эксперимента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6409C70B-EC06-CA28-3455-4AE195FFE9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2752531"/>
                  </p:ext>
                </p:extLst>
              </p:nvPr>
            </p:nvGraphicFramePr>
            <p:xfrm>
              <a:off x="597528" y="719666"/>
              <a:ext cx="11362100" cy="4905756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Степени полинома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1-6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Распределения ошибок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Лапласа, </a:t>
                          </a:r>
                          <a:r>
                            <a:rPr lang="ru-RU" sz="18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Гумбеля</a:t>
                          </a: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8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Тьюки</a:t>
                          </a: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и др. (30 типов)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599014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Уровни шума (коэффициент детерминации </a:t>
                          </a:r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R)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0.95 (низкий), 0.9 (средний), 0.8 (высокий)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32677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CV, LOOCV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 подбора степени полинома и параметров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[5]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6409C70B-EC06-CA28-3455-4AE195FFE9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2752531"/>
                  </p:ext>
                </p:extLst>
              </p:nvPr>
            </p:nvGraphicFramePr>
            <p:xfrm>
              <a:off x="597528" y="719666"/>
              <a:ext cx="11362100" cy="4905756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453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Степени полинома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1-6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Распределения ошибок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Лапласа, </a:t>
                          </a:r>
                          <a:r>
                            <a:rPr lang="ru-RU" sz="18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Гумбеля</a:t>
                          </a: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8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Тьюки</a:t>
                          </a: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и др. (30 типов)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59901445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Уровни шума (коэффициент детерминации </a:t>
                          </a:r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R)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0.95 (низкий), 0.9 (средний), 0.8 (высокий)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3267744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CV, LOOCV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15" t="-696000" r="-100536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[5]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127660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79556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5070591" y="0"/>
            <a:ext cx="2050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1294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 метод демонстрирует эффективность при всех уровнях шума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Наибольшее улучшение достигнуто для полинома 2-й степени (-63% к ядерной регрессии)</a:t>
            </a:r>
          </a:p>
        </p:txBody>
      </p:sp>
      <p:pic>
        <p:nvPicPr>
          <p:cNvPr id="4" name="Рисунок 3" descr="Изображение выглядит как диаграмма, линия, График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0A465BF-FA1C-A0CD-A6EE-6D6A9B3DC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02" y="2444616"/>
            <a:ext cx="11329595" cy="37348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1995157" y="6179420"/>
            <a:ext cx="8476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Рис.1. Сравнение лучших оценок ядерного и энтропийного метода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6382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5018237" y="0"/>
            <a:ext cx="2155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19950-4F22-A952-AE41-BFD3A317FB05}"/>
              </a:ext>
            </a:extLst>
          </p:cNvPr>
          <p:cNvSpPr txBox="1"/>
          <p:nvPr/>
        </p:nvSpPr>
        <p:spPr>
          <a:xfrm>
            <a:off x="387790" y="523220"/>
            <a:ext cx="11416420" cy="4135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Выводы: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 малых выборках (n=30) кросс-валидация </a:t>
            </a:r>
            <a:r>
              <a:rPr lang="ru-RU" b="1" dirty="0"/>
              <a:t>нестабильна</a:t>
            </a:r>
            <a:r>
              <a:rPr lang="en-US" dirty="0"/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/>
              <a:t>Энтропийный метод статистически эффективнее в </a:t>
            </a:r>
            <a:r>
              <a:rPr lang="ru-RU" b="1" dirty="0"/>
              <a:t>большинстве конфигураций</a:t>
            </a:r>
            <a:endParaRPr lang="en-US" b="1" dirty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/>
              <a:t>Метод </a:t>
            </a:r>
            <a:r>
              <a:rPr lang="ru-RU" b="1" dirty="0"/>
              <a:t>робастен</a:t>
            </a:r>
            <a:r>
              <a:rPr lang="ru-RU" dirty="0"/>
              <a:t> к распределению ошибок (не требует нормальности)</a:t>
            </a:r>
            <a:endParaRPr lang="en-US" dirty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/>
              <a:t>Работает устойчиво при </a:t>
            </a:r>
            <a:r>
              <a:rPr lang="ru-RU" b="1" dirty="0"/>
              <a:t>малом объёме выборки</a:t>
            </a:r>
            <a:r>
              <a:rPr lang="ru-RU" dirty="0"/>
              <a:t> (n=30)</a:t>
            </a:r>
            <a:endParaRPr lang="en-US" dirty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Наибольший выигрыш для существенно ненормального </a:t>
            </a:r>
            <a:r>
              <a:rPr lang="ru-RU" b="1" dirty="0"/>
              <a:t>шума </a:t>
            </a:r>
            <a:r>
              <a:rPr lang="ru-RU" dirty="0"/>
              <a:t>и</a:t>
            </a:r>
            <a:r>
              <a:rPr lang="ru-RU" b="1" dirty="0"/>
              <a:t> полиномов низкой степени</a:t>
            </a:r>
            <a:r>
              <a:rPr lang="ru-RU" dirty="0"/>
              <a:t> (1–3)</a:t>
            </a:r>
          </a:p>
        </p:txBody>
      </p:sp>
    </p:spTree>
    <p:extLst>
      <p:ext uri="{BB962C8B-B14F-4D97-AF65-F5344CB8AC3E}">
        <p14:creationId xmlns:p14="http://schemas.microsoft.com/office/powerpoint/2010/main" val="4081014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088B1-270F-467A-485B-FE41C3B70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06851-A264-79D0-5147-2CE6E03FBAAF}"/>
              </a:ext>
            </a:extLst>
          </p:cNvPr>
          <p:cNvSpPr txBox="1"/>
          <p:nvPr/>
        </p:nvSpPr>
        <p:spPr>
          <a:xfrm>
            <a:off x="4376426" y="0"/>
            <a:ext cx="3439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Список литературы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7EB01-75EB-F47F-3EB8-B95AA247CC82}"/>
              </a:ext>
            </a:extLst>
          </p:cNvPr>
          <p:cNvSpPr txBox="1"/>
          <p:nvPr/>
        </p:nvSpPr>
        <p:spPr>
          <a:xfrm>
            <a:off x="387790" y="523220"/>
            <a:ext cx="11416420" cy="62113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Дубнов Ю. А., Булычев А. В.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Приближенное оценивание с помощью ускоренного метода наибольшей энтропии. Часть 1. Постановка задачи и реализация для задачи регрессии // Информационные технологии и вычислительные системы. 2022.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№ 4. С. 69–80.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Golan A., Judge G. G., Miller D.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Maximum Entropy Econometrics: Robust Estimation with Limited Data. — Chichester: John Wiley and Sons Ltd., 1996.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Воеводин В. В., Кузнецов Ю. А.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Матрицы и вычисления. — М.: Наука, 1984.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Цыпкин Я. З.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Основы теории обучающихся систем. — М.: Наука, 1970.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Efron B.,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Tibshirani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Improvements on cross-validation: the 632+ bootstrap method // J. Am. Stat. Assoc. 1997. V. 92(438). P. 548–560.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517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67235-B120-5DC2-02D3-EDE466B4E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CD6835F-F652-25A6-F645-229017968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68" y="640080"/>
            <a:ext cx="10911865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12F587-5BFE-2158-1B6E-84D728510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BE410B-DACE-F062-AFA8-296F905A2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2729" y="1289303"/>
            <a:ext cx="9638443" cy="3339303"/>
          </a:xfrm>
          <a:ln>
            <a:noFill/>
          </a:ln>
        </p:spPr>
        <p:txBody>
          <a:bodyPr vert="horz" lIns="274320" tIns="182880" rIns="274320" bIns="182880" rtlCol="0" anchor="ctr" anchorCtr="1">
            <a:noAutofit/>
          </a:bodyPr>
          <a:lstStyle/>
          <a:p>
            <a:r>
              <a:rPr lang="ru-RU" sz="3200" dirty="0"/>
              <a:t>Спасибо за внимание</a:t>
            </a:r>
            <a:endParaRPr lang="en-US" sz="3200" kern="1200" cap="all" spc="200" baseline="0" dirty="0">
              <a:solidFill>
                <a:srgbClr val="262626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82713940"/>
      </p:ext>
    </p:extLst>
  </p:cSld>
  <p:clrMapOvr>
    <a:masterClrMapping/>
  </p:clrMapOvr>
</p:sld>
</file>

<file path=ppt/theme/theme1.xml><?xml version="1.0" encoding="utf-8"?>
<a:theme xmlns:a="http://schemas.openxmlformats.org/drawingml/2006/main" name="Посылка">
  <a:themeElements>
    <a:clrScheme name="Посылка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Посылка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Посылка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Посылка</Template>
  <TotalTime>315</TotalTime>
  <Words>682</Words>
  <Application>Microsoft Office PowerPoint</Application>
  <PresentationFormat>Широкоэкранный</PresentationFormat>
  <Paragraphs>76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Aptos</vt:lpstr>
      <vt:lpstr>Arial</vt:lpstr>
      <vt:lpstr>Cambria Math</vt:lpstr>
      <vt:lpstr>Corbel</vt:lpstr>
      <vt:lpstr>Gill Sans MT</vt:lpstr>
      <vt:lpstr>Times New Roman</vt:lpstr>
      <vt:lpstr>Посылка</vt:lpstr>
      <vt:lpstr>энтропийныЙ ПОДХОД ДЛЯ робастноГО ОцениваниЯ регрессионных зависимостей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энтропийныЙ ПОДХОД ДЛЯ робастноГО ОцениваниЯЕ регрессионных зависимостей энтропийным методом с УЧЕТОМ  на малых выборках с ненормальными ошибками</dc:title>
  <dc:creator>Анфимов Александр Дмитриевич</dc:creator>
  <cp:lastModifiedBy>Александр Анфимов</cp:lastModifiedBy>
  <cp:revision>16</cp:revision>
  <dcterms:created xsi:type="dcterms:W3CDTF">2024-12-16T13:09:05Z</dcterms:created>
  <dcterms:modified xsi:type="dcterms:W3CDTF">2026-03-20T08:48:47Z</dcterms:modified>
</cp:coreProperties>
</file>