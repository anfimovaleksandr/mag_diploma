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12"/>
  </p:notesMasterIdLst>
  <p:sldIdLst>
    <p:sldId id="256" r:id="rId2"/>
    <p:sldId id="257" r:id="rId3"/>
    <p:sldId id="269" r:id="rId4"/>
    <p:sldId id="271" r:id="rId5"/>
    <p:sldId id="274" r:id="rId6"/>
    <p:sldId id="272" r:id="rId7"/>
    <p:sldId id="273" r:id="rId8"/>
    <p:sldId id="275" r:id="rId9"/>
    <p:sldId id="276" r:id="rId10"/>
    <p:sldId id="267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626634-CE2F-4DD7-8FF3-A2AF8CEFAA4F}" type="datetimeFigureOut">
              <a:rPr lang="ru-RU" smtClean="0"/>
              <a:t>09.03.2026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6371D2-86CC-402C-A2D2-EB78B925299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8303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78990-BC74-4702-B11E-A02B45A34803}" type="datetimeFigureOut">
              <a:rPr lang="ru-RU" smtClean="0"/>
              <a:t>09.03.2026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3A139-DB11-4900-831C-8645072E7A5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17709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78990-BC74-4702-B11E-A02B45A34803}" type="datetimeFigureOut">
              <a:rPr lang="ru-RU" smtClean="0"/>
              <a:t>09.03.2026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3A139-DB11-4900-831C-8645072E7A5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88655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78990-BC74-4702-B11E-A02B45A34803}" type="datetimeFigureOut">
              <a:rPr lang="ru-RU" smtClean="0"/>
              <a:t>09.03.2026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3A139-DB11-4900-831C-8645072E7A5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04641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78990-BC74-4702-B11E-A02B45A34803}" type="datetimeFigureOut">
              <a:rPr lang="ru-RU" smtClean="0"/>
              <a:t>09.03.2026</a:t>
            </a:fld>
            <a:endParaRPr lang="ru-RU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3A139-DB11-4900-831C-8645072E7A5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04312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78990-BC74-4702-B11E-A02B45A34803}" type="datetimeFigureOut">
              <a:rPr lang="ru-RU" smtClean="0"/>
              <a:t>09.03.2026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3A139-DB11-4900-831C-8645072E7A5F}" type="slidenum">
              <a:rPr lang="ru-RU" smtClean="0"/>
              <a:t>‹#›</a:t>
            </a:fld>
            <a:endParaRPr lang="ru-RU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6709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78990-BC74-4702-B11E-A02B45A34803}" type="datetimeFigureOut">
              <a:rPr lang="ru-RU" smtClean="0"/>
              <a:t>09.03.2026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3A139-DB11-4900-831C-8645072E7A5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57494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78990-BC74-4702-B11E-A02B45A34803}" type="datetimeFigureOut">
              <a:rPr lang="ru-RU" smtClean="0"/>
              <a:t>09.03.2026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3A139-DB11-4900-831C-8645072E7A5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05528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78990-BC74-4702-B11E-A02B45A34803}" type="datetimeFigureOut">
              <a:rPr lang="ru-RU" smtClean="0"/>
              <a:t>09.03.2026</a:t>
            </a:fld>
            <a:endParaRPr lang="ru-RU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ru-RU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3A139-DB11-4900-831C-8645072E7A5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14626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D4C78990-BC74-4702-B11E-A02B45A34803}" type="datetimeFigureOut">
              <a:rPr lang="ru-RU" smtClean="0"/>
              <a:t>09.03.2026</a:t>
            </a:fld>
            <a:endParaRPr lang="ru-RU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ru-RU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3A139-DB11-4900-831C-8645072E7A5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57856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78990-BC74-4702-B11E-A02B45A34803}" type="datetimeFigureOut">
              <a:rPr lang="ru-RU" smtClean="0"/>
              <a:t>09.03.2026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3A139-DB11-4900-831C-8645072E7A5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821590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78990-BC74-4702-B11E-A02B45A34803}" type="datetimeFigureOut">
              <a:rPr lang="ru-RU" smtClean="0"/>
              <a:t>09.03.2026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3A139-DB11-4900-831C-8645072E7A5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66356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D4C78990-BC74-4702-B11E-A02B45A34803}" type="datetimeFigureOut">
              <a:rPr lang="ru-RU" smtClean="0"/>
              <a:t>09.03.2026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3123A139-DB11-4900-831C-8645072E7A5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53251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4167985-D6E9-40FF-97C0-4B6D373E85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68" y="640080"/>
            <a:ext cx="10911865" cy="4626864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8801362-349C-44BE-BEF6-8E926E1D3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6196" y="804672"/>
            <a:ext cx="10579608" cy="4297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A77998-A4CF-F063-FCB7-A98A86FF3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196" y="1289303"/>
            <a:ext cx="10579607" cy="3339303"/>
          </a:xfrm>
          <a:ln>
            <a:noFill/>
          </a:ln>
        </p:spPr>
        <p:txBody>
          <a:bodyPr vert="horz" lIns="274320" tIns="182880" rIns="274320" bIns="182880" rtlCol="0" anchor="ctr" anchorCtr="1">
            <a:no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Оценивание регрессионных зависимостей энтропийным методом на малых выборках с ненормальными ошибками</a:t>
            </a:r>
            <a:endParaRPr lang="en-US" sz="3200" kern="1200" cap="all" spc="200" baseline="0" dirty="0">
              <a:solidFill>
                <a:srgbClr val="26262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4EE8E8-5C77-BF5F-64B3-35A305B88EF9}"/>
              </a:ext>
            </a:extLst>
          </p:cNvPr>
          <p:cNvSpPr txBox="1"/>
          <p:nvPr/>
        </p:nvSpPr>
        <p:spPr>
          <a:xfrm>
            <a:off x="662255" y="5591663"/>
            <a:ext cx="1082886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Автор: Анфимов А. Д.</a:t>
            </a:r>
          </a:p>
          <a:p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Организация: Московский физико-технический институт (национальный исследовательский университет)</a:t>
            </a:r>
          </a:p>
          <a:p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Дата: 01.04.2026</a:t>
            </a:r>
          </a:p>
        </p:txBody>
      </p:sp>
    </p:spTree>
    <p:extLst>
      <p:ext uri="{BB962C8B-B14F-4D97-AF65-F5344CB8AC3E}">
        <p14:creationId xmlns:p14="http://schemas.microsoft.com/office/powerpoint/2010/main" val="34037361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E06EC55-C903-76F6-3778-39E511D2B31D}"/>
              </a:ext>
            </a:extLst>
          </p:cNvPr>
          <p:cNvSpPr txBox="1"/>
          <p:nvPr/>
        </p:nvSpPr>
        <p:spPr>
          <a:xfrm>
            <a:off x="3895750" y="0"/>
            <a:ext cx="44005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Проблема и актуальность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3769B2-799A-2018-0427-DE5F4DA226CC}"/>
              </a:ext>
            </a:extLst>
          </p:cNvPr>
          <p:cNvSpPr txBox="1"/>
          <p:nvPr/>
        </p:nvSpPr>
        <p:spPr>
          <a:xfrm>
            <a:off x="387790" y="523220"/>
            <a:ext cx="11416420" cy="5513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50000"/>
              </a:lnSpc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Проблема построения регрессионных моделей:  </a:t>
            </a: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Классический МНК требует выполнения строгих условий (нормальность ошибок, достаточный объём выборки)</a:t>
            </a: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Непараметрические методы (ядерная регрессия) неустойчивы при малом количестве точек</a:t>
            </a: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Реальные данные часто имеют ненормальные ошибки и малый объём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50000"/>
              </a:lnSpc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Научная новизна:  </a:t>
            </a: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Применение модифицированного энтропийного метода с «мягкой» рандомизацией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 оценке регрессии</a:t>
            </a: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Сравнение с ядерной регрессией на синтетических данных с разнообразными распределениями ошибок</a:t>
            </a:r>
          </a:p>
        </p:txBody>
      </p:sp>
    </p:spTree>
    <p:extLst>
      <p:ext uri="{BB962C8B-B14F-4D97-AF65-F5344CB8AC3E}">
        <p14:creationId xmlns:p14="http://schemas.microsoft.com/office/powerpoint/2010/main" val="20295859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80761D-8F29-C587-E7E2-A5E1232CB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6704444-3DDA-9E0C-80F3-B04881397336}"/>
              </a:ext>
            </a:extLst>
          </p:cNvPr>
          <p:cNvSpPr txBox="1"/>
          <p:nvPr/>
        </p:nvSpPr>
        <p:spPr>
          <a:xfrm>
            <a:off x="3895750" y="0"/>
            <a:ext cx="47813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и задачи исследования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D1A848-C0CA-FEEC-A160-E16E2D8D9878}"/>
              </a:ext>
            </a:extLst>
          </p:cNvPr>
          <p:cNvSpPr txBox="1"/>
          <p:nvPr/>
        </p:nvSpPr>
        <p:spPr>
          <a:xfrm>
            <a:off x="578194" y="523220"/>
            <a:ext cx="11416420" cy="4128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50000"/>
              </a:lnSpc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Цель:</a:t>
            </a:r>
          </a:p>
          <a:p>
            <a:pPr>
              <a:lnSpc>
                <a:spcPct val="250000"/>
              </a:lnSpc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Построение робастных оценок регрессии на малых выборках без предположений о распределении ошибок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50000"/>
              </a:lnSpc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Задачи:  </a:t>
            </a:r>
          </a:p>
          <a:p>
            <a:pPr marL="342900" indent="-342900">
              <a:lnSpc>
                <a:spcPct val="250000"/>
              </a:lnSpc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Реализовать энтропийный метод оценивания</a:t>
            </a:r>
          </a:p>
          <a:p>
            <a:pPr marL="342900" indent="-342900">
              <a:lnSpc>
                <a:spcPct val="250000"/>
              </a:lnSpc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Сравнить с ядерной регрессией</a:t>
            </a:r>
          </a:p>
          <a:p>
            <a:pPr marL="342900" indent="-342900">
              <a:lnSpc>
                <a:spcPct val="250000"/>
              </a:lnSpc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Оценить устойчивость к разным уровням шума и сложности данных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27810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A8A7F7-59A6-4C32-9FB4-373DFE454D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378B456-C065-EBF3-B7B7-9D07C5DA29C2}"/>
              </a:ext>
            </a:extLst>
          </p:cNvPr>
          <p:cNvSpPr txBox="1"/>
          <p:nvPr/>
        </p:nvSpPr>
        <p:spPr>
          <a:xfrm>
            <a:off x="3239542" y="0"/>
            <a:ext cx="59875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Методология. Энтропийный подход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C4E704A-6A1F-5F99-7A11-9B32B46C3D6D}"/>
                  </a:ext>
                </a:extLst>
              </p:cNvPr>
              <p:cNvSpPr txBox="1"/>
              <p:nvPr/>
            </p:nvSpPr>
            <p:spPr>
              <a:xfrm>
                <a:off x="525100" y="599122"/>
                <a:ext cx="11416420" cy="56597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ru-RU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Основы классического энтропийного метода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[2]</a:t>
                </a:r>
                <a:r>
                  <a:rPr lang="ru-RU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</a:p>
              <a:p>
                <a:pPr>
                  <a:lnSpc>
                    <a:spcPct val="200000"/>
                  </a:lnSpc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Пусть оцениваемая зависимость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представляет собой модель с параметрами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 ∈</m:t>
                    </m:r>
                    <m:sSup>
                      <m:sSup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ru-RU" i="1"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где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количество параметров, т. е.</a:t>
                </a:r>
              </a:p>
              <a:p>
                <a:pPr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ru-RU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u-RU" i="1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ru-RU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ru-RU" i="1">
                          <a:latin typeface="Cambria Math" panose="02040503050406030204" pitchFamily="18" charset="0"/>
                        </a:rPr>
                        <m:t>𝜀</m:t>
                      </m:r>
                      <m:r>
                        <a:rPr lang="ru-RU" i="1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ru-RU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ru-RU" i="1">
                          <a:latin typeface="Cambria Math" panose="02040503050406030204" pitchFamily="18" charset="0"/>
                        </a:rPr>
                        <m:t> ∈</m:t>
                      </m:r>
                      <m:sSup>
                        <m:sSup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𝑟</m:t>
                          </m:r>
                        </m:sup>
                      </m:sSup>
                    </m:oMath>
                  </m:oMathPara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Параметры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и ошибки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предполагаются непрерывными случайными величинами, которые определены на некоторых интервалах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  <m:r>
                          <a:rPr lang="ru-RU" i="1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e>
                    </m:d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и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𝜀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𝑈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p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  <m:r>
                          <a:rPr lang="ru-RU" i="1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p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e>
                    </m:d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Целью метода является восстановление по данным оптимальных функций плотности распределения (ФПР) случайных величин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</m:d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и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Это достигается путем максимизации функционала информационной энтропии:</a:t>
                </a:r>
              </a:p>
              <a:p>
                <a:pPr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eqArr>
                        <m:eqArr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𝐻</m:t>
                          </m:r>
                          <m:d>
                            <m:d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d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  <m:d>
                                <m:d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</m:d>
                            </m:e>
                          </m:d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=−</m:t>
                          </m:r>
                          <m:nary>
                            <m:naryPr>
                              <m:limLoc m:val="subSup"/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  <m:sup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p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d>
                              <m:func>
                                <m:func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ru-RU">
                                      <a:latin typeface="Cambria Math" panose="02040503050406030204" pitchFamily="18" charset="0"/>
                                    </a:rPr>
                                    <m:t>ln</m:t>
                                  </m:r>
                                </m:fName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  <m:d>
                                    <m:dPr>
                                      <m:ctrlP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</m:d>
                                </m:e>
                              </m:func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𝑑𝑎</m:t>
                              </m:r>
                            </m:e>
                          </m:nary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−</m:t>
                          </m:r>
                          <m:nary>
                            <m:naryPr>
                              <m:limLoc m:val="subSup"/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sub>
                            <m:sup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p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  <m:d>
                                <m:d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</m:d>
                              <m:func>
                                <m:func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ru-RU">
                                      <a:latin typeface="Cambria Math" panose="02040503050406030204" pitchFamily="18" charset="0"/>
                                    </a:rPr>
                                    <m:t>ln</m:t>
                                  </m:r>
                                </m:fName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  <m:d>
                                    <m:dPr>
                                      <m:ctrlP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  <m:t>𝜀</m:t>
                                      </m:r>
                                    </m:e>
                                  </m:d>
                                </m:e>
                              </m:func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</m:nary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→</m:t>
                          </m:r>
                          <m:func>
                            <m:func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ru-RU"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e>
                                <m:lim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lim>
                              </m:limLow>
                            </m:fName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func>
                        </m:e>
                      </m:eqArr>
                    </m:oMath>
                  </m:oMathPara>
                </a14:m>
                <a:endParaRPr lang="ru-RU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C4E704A-6A1F-5F99-7A11-9B32B46C3D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100" y="599122"/>
                <a:ext cx="11416420" cy="5659755"/>
              </a:xfrm>
              <a:prstGeom prst="rect">
                <a:avLst/>
              </a:prstGeom>
              <a:blipFill>
                <a:blip r:embed="rId2"/>
                <a:stretch>
                  <a:fillRect l="-42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095974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2D9ED9-9111-2160-EE0E-3ACEFF149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7DEE030-DBF6-ADB8-A0E2-3FA09E29B6D9}"/>
              </a:ext>
            </a:extLst>
          </p:cNvPr>
          <p:cNvSpPr txBox="1"/>
          <p:nvPr/>
        </p:nvSpPr>
        <p:spPr>
          <a:xfrm>
            <a:off x="3239542" y="0"/>
            <a:ext cx="59875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Методология. Энтропийный подход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97D71E8-C046-2B30-E902-BE71C9AB1A4A}"/>
                  </a:ext>
                </a:extLst>
              </p:cNvPr>
              <p:cNvSpPr txBox="1"/>
              <p:nvPr/>
            </p:nvSpPr>
            <p:spPr>
              <a:xfrm>
                <a:off x="457199" y="688064"/>
                <a:ext cx="11552222" cy="58026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ru-RU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Основы «мягкого» энтропийного метода: 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Используется приближенное балансирование предсказаний и истинных данных через </a:t>
                </a:r>
                <a:r>
                  <a:rPr lang="ru-RU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гельдеровы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нормы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[3]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eqArr>
                        <m:eqArr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  <m:d>
                            <m:d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  <m:d>
                                    <m:dPr>
                                      <m:ctrlP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</m:d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</m:e>
                            <m:sub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sub>
                          </m:s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, </m:t>
                          </m:r>
                        </m:e>
                      </m:eqArr>
                    </m:oMath>
                  </m:oMathPara>
                </a14:m>
                <a:endParaRPr lang="ru-RU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eqArr>
                        <m:eqArr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sub>
                          </m:sSub>
                          <m:d>
                            <m:d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</m:d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</m:d>
                            </m:e>
                            <m:sub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sub>
                          </m:sSub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</m:e>
                      </m:eqArr>
                    </m:oMath>
                  </m:oMathPara>
                </a14:m>
                <a:endParaRPr lang="ru-RU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 Задача сводится к максимизации синтетического функционала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  <m:r>
                          <a:rPr lang="ru-RU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ru-RU" i="1">
                            <a:latin typeface="Cambria Math" panose="02040503050406030204" pitchFamily="18" charset="0"/>
                          </a:rPr>
                          <m:t>𝑄</m:t>
                        </m:r>
                        <m:d>
                          <m:d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</m:d>
                      </m:e>
                    </m:d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объединяющий энтропию, «эмпирический риск» [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] и среднюю норму ошибок, при условиях нормировки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и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</m:d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eqArr>
                        <m:eqArr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𝐽</m:t>
                          </m:r>
                          <m:d>
                            <m:d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d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  <m:d>
                                <m:d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</m:d>
                            </m:e>
                          </m:d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𝐻</m:t>
                          </m:r>
                          <m:d>
                            <m:d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d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  <m:d>
                                <m:d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</m:d>
                            </m:e>
                          </m:d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d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𝜀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</m:d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. </m:t>
                          </m:r>
                        </m:e>
                      </m:eqArr>
                    </m:oMath>
                  </m:oMathPara>
                </a14:m>
                <a:endParaRPr lang="ru-RU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Для учета ограничений вводится функционал Лагранжа, а условия оптимальности выводятся через производные Гато. Решение задачи в общем виде имеет вид: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eqArr>
                        <m:eqArr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sSup>
                            <m:sSup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d>
                            <m:d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func>
                                <m:func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exp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ru-RU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ru-RU" i="1">
                                              <a:latin typeface="Cambria Math" panose="02040503050406030204" pitchFamily="18" charset="0"/>
                                            </a:rPr>
                                            <m:t>𝑁</m:t>
                                          </m:r>
                                        </m:e>
                                        <m:sub>
                                          <m:r>
                                            <a:rPr lang="ru-RU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ru-RU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ru-RU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</m:func>
                            </m:num>
                            <m:den>
                              <m:nary>
                                <m:naryPr>
                                  <m:limLoc m:val="subSup"/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sub>
                                <m:sup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p>
                                <m:e>
                                  <m:func>
                                    <m:funcPr>
                                      <m:ctrlP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  <m:t>exp</m:t>
                                      </m:r>
                                    </m:fName>
                                    <m:e>
                                      <m:d>
                                        <m:dPr>
                                          <m:ctrlPr>
                                            <a:rPr lang="ru-RU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ru-RU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ru-RU" i="1">
                                                  <a:latin typeface="Cambria Math" panose="02040503050406030204" pitchFamily="18" charset="0"/>
                                                </a:rPr>
                                                <m:t>𝑁</m:t>
                                              </m:r>
                                            </m:e>
                                            <m:sub>
                                              <m:r>
                                                <a:rPr lang="ru-RU" i="1"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sub>
                                          </m:sSub>
                                          <m:d>
                                            <m:dPr>
                                              <m:ctrlPr>
                                                <a:rPr lang="ru-RU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ru-RU" i="1"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e>
                                          </m:d>
                                        </m:e>
                                      </m:d>
                                    </m:e>
                                  </m:func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𝑑𝑎</m:t>
                                  </m:r>
                                </m:e>
                              </m:nary>
                            </m:den>
                          </m:f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, </m:t>
                          </m:r>
                        </m:e>
                      </m:eqArr>
                      <m:eqArr>
                        <m:eqArr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sSup>
                            <m:sSup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p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d>
                            <m:d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</m:d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func>
                                <m:func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exp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ru-RU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ru-RU" i="1">
                                              <a:latin typeface="Cambria Math" panose="02040503050406030204" pitchFamily="18" charset="0"/>
                                            </a:rPr>
                                            <m:t>𝑁</m:t>
                                          </m:r>
                                        </m:e>
                                        <m:sub>
                                          <m:r>
                                            <a:rPr lang="ru-RU" i="1">
                                              <a:latin typeface="Cambria Math" panose="02040503050406030204" pitchFamily="18" charset="0"/>
                                            </a:rPr>
                                            <m:t>𝜀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ru-RU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ru-RU" i="1">
                                              <a:latin typeface="Cambria Math" panose="02040503050406030204" pitchFamily="18" charset="0"/>
                                            </a:rPr>
                                            <m:t>𝜀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</m:func>
                            </m:num>
                            <m:den>
                              <m:nary>
                                <m:naryPr>
                                  <m:limLoc m:val="subSup"/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𝑈</m:t>
                                  </m:r>
                                </m:sub>
                                <m:sup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p>
                                <m:e>
                                  <m:func>
                                    <m:funcPr>
                                      <m:ctrlP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  <m:t>exp</m:t>
                                      </m:r>
                                    </m:fName>
                                    <m:e>
                                      <m:d>
                                        <m:dPr>
                                          <m:ctrlPr>
                                            <a:rPr lang="ru-RU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ru-RU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ru-RU" i="1">
                                                  <a:latin typeface="Cambria Math" panose="02040503050406030204" pitchFamily="18" charset="0"/>
                                                </a:rPr>
                                                <m:t>𝑁</m:t>
                                              </m:r>
                                            </m:e>
                                            <m:sub>
                                              <m:r>
                                                <a:rPr lang="ru-RU" i="1">
                                                  <a:latin typeface="Cambria Math" panose="02040503050406030204" pitchFamily="18" charset="0"/>
                                                </a:rPr>
                                                <m:t>𝜀</m:t>
                                              </m:r>
                                            </m:sub>
                                          </m:sSub>
                                          <m:d>
                                            <m:dPr>
                                              <m:ctrlPr>
                                                <a:rPr lang="ru-RU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ru-RU" i="1">
                                                  <a:latin typeface="Cambria Math" panose="02040503050406030204" pitchFamily="18" charset="0"/>
                                                </a:rPr>
                                                <m:t>𝜀</m:t>
                                              </m:r>
                                            </m:e>
                                          </m:d>
                                        </m:e>
                                      </m:d>
                                    </m:e>
                                  </m:func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</m:nary>
                            </m:den>
                          </m:f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. </m:t>
                          </m:r>
                        </m:e>
                      </m:eqArr>
                    </m:oMath>
                  </m:oMathPara>
                </a14:m>
                <a:endParaRPr lang="ru-RU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В качестве нормы в данном исследовании берется комбинация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/>
                        </m:ctrlPr>
                      </m:sSubPr>
                      <m:e>
                        <m:r>
                          <a:rPr lang="ru-RU" i="1"/>
                          <m:t>𝐿</m:t>
                        </m:r>
                      </m:e>
                      <m:sub>
                        <m:r>
                          <a:rPr lang="ru-RU" i="1"/>
                          <m:t>1</m:t>
                        </m:r>
                      </m:sub>
                    </m:sSub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/>
                        </m:ctrlPr>
                      </m:sSubPr>
                      <m:e>
                        <m:r>
                          <a:rPr lang="ru-RU" i="1"/>
                          <m:t>𝐿</m:t>
                        </m:r>
                      </m:e>
                      <m:sub>
                        <m:r>
                          <a:rPr lang="ru-RU" i="1"/>
                          <m:t>2</m:t>
                        </m:r>
                      </m:sub>
                    </m:sSub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норм: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/>
                          </m:ctrlPr>
                        </m:sSubPr>
                        <m:e>
                          <m:r>
                            <a:rPr lang="ru-RU" i="1"/>
                            <m:t>𝑁</m:t>
                          </m:r>
                        </m:e>
                        <m:sub>
                          <m:r>
                            <a:rPr lang="ru-RU" i="1"/>
                            <m:t>𝑎</m:t>
                          </m:r>
                        </m:sub>
                      </m:sSub>
                      <m:d>
                        <m:dPr>
                          <m:ctrlPr>
                            <a:rPr lang="ru-RU" i="1"/>
                          </m:ctrlPr>
                        </m:dPr>
                        <m:e>
                          <m:r>
                            <a:rPr lang="ru-RU" i="1"/>
                            <m:t>𝑎</m:t>
                          </m:r>
                        </m:e>
                      </m:d>
                      <m:r>
                        <a:rPr lang="ru-RU" i="1"/>
                        <m:t>=</m:t>
                      </m:r>
                      <m:sSub>
                        <m:sSubPr>
                          <m:ctrlPr>
                            <a:rPr lang="ru-RU" i="1"/>
                          </m:ctrlPr>
                        </m:sSubPr>
                        <m:e>
                          <m:r>
                            <a:rPr lang="ru-RU" i="1"/>
                            <m:t>𝑐</m:t>
                          </m:r>
                        </m:e>
                        <m:sub>
                          <m:r>
                            <a:rPr lang="ru-RU" i="1"/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ru-RU" i="1"/>
                          </m:ctrlPr>
                        </m:sSub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ru-RU" i="1"/>
                              </m:ctrlPr>
                            </m:dPr>
                            <m:e>
                              <m:acc>
                                <m:accPr>
                                  <m:chr m:val="̂"/>
                                  <m:ctrlPr>
                                    <a:rPr lang="ru-RU" i="1"/>
                                  </m:ctrlPr>
                                </m:accPr>
                                <m:e>
                                  <m:r>
                                    <a:rPr lang="ru-RU" i="1"/>
                                    <m:t>𝑦</m:t>
                                  </m:r>
                                </m:e>
                              </m:acc>
                              <m:r>
                                <a:rPr lang="ru-RU" i="1"/>
                                <m:t>−</m:t>
                              </m:r>
                              <m:r>
                                <a:rPr lang="ru-RU" i="1"/>
                                <m:t>𝑦</m:t>
                              </m:r>
                            </m:e>
                          </m:d>
                        </m:e>
                        <m:sub>
                          <m:r>
                            <a:rPr lang="ru-RU" i="1"/>
                            <m:t>1</m:t>
                          </m:r>
                        </m:sub>
                      </m:sSub>
                      <m:r>
                        <a:rPr lang="ru-RU" i="1"/>
                        <m:t>+</m:t>
                      </m:r>
                      <m:sSub>
                        <m:sSubPr>
                          <m:ctrlPr>
                            <a:rPr lang="ru-RU" i="1"/>
                          </m:ctrlPr>
                        </m:sSubPr>
                        <m:e>
                          <m:r>
                            <a:rPr lang="ru-RU" i="1"/>
                            <m:t>𝑐</m:t>
                          </m:r>
                        </m:e>
                        <m:sub>
                          <m:r>
                            <a:rPr lang="ru-RU" i="1"/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ru-RU" i="1"/>
                          </m:ctrlPr>
                        </m:sSub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ru-RU" i="1"/>
                              </m:ctrlPr>
                            </m:dPr>
                            <m:e>
                              <m:acc>
                                <m:accPr>
                                  <m:chr m:val="̂"/>
                                  <m:ctrlPr>
                                    <a:rPr lang="ru-RU" i="1"/>
                                  </m:ctrlPr>
                                </m:accPr>
                                <m:e>
                                  <m:r>
                                    <a:rPr lang="ru-RU" i="1"/>
                                    <m:t>𝑦</m:t>
                                  </m:r>
                                </m:e>
                              </m:acc>
                              <m:r>
                                <a:rPr lang="ru-RU" i="1"/>
                                <m:t>−</m:t>
                              </m:r>
                              <m:r>
                                <a:rPr lang="ru-RU" i="1"/>
                                <m:t>𝑦</m:t>
                              </m:r>
                            </m:e>
                          </m:d>
                        </m:e>
                        <m:sub>
                          <m:r>
                            <a:rPr lang="ru-RU" i="1"/>
                            <m:t>2</m:t>
                          </m:r>
                        </m:sub>
                      </m:sSub>
                    </m:oMath>
                  </m:oMathPara>
                </a14:m>
                <a:endParaRPr lang="ru-RU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97D71E8-C046-2B30-E902-BE71C9AB1A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199" y="688064"/>
                <a:ext cx="11552222" cy="5802679"/>
              </a:xfrm>
              <a:prstGeom prst="rect">
                <a:avLst/>
              </a:prstGeom>
              <a:blipFill>
                <a:blip r:embed="rId2"/>
                <a:stretch>
                  <a:fillRect l="-42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24490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2BF301-507D-2287-D63E-51DCF9134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4AAFDB0-D9B3-1ED6-2B5C-222E641BBD8E}"/>
              </a:ext>
            </a:extLst>
          </p:cNvPr>
          <p:cNvSpPr txBox="1"/>
          <p:nvPr/>
        </p:nvSpPr>
        <p:spPr>
          <a:xfrm>
            <a:off x="4235426" y="0"/>
            <a:ext cx="37211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Дизайн эксперимента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Таблица 3">
                <a:extLst>
                  <a:ext uri="{FF2B5EF4-FFF2-40B4-BE49-F238E27FC236}">
                    <a16:creationId xmlns:a16="http://schemas.microsoft.com/office/drawing/2014/main" id="{6409C70B-EC06-CA28-3455-4AE195FFE9D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22752531"/>
                  </p:ext>
                </p:extLst>
              </p:nvPr>
            </p:nvGraphicFramePr>
            <p:xfrm>
              <a:off x="597528" y="719666"/>
              <a:ext cx="11362100" cy="4905756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5681050">
                      <a:extLst>
                        <a:ext uri="{9D8B030D-6E8A-4147-A177-3AD203B41FA5}">
                          <a16:colId xmlns:a16="http://schemas.microsoft.com/office/drawing/2014/main" val="1971457776"/>
                        </a:ext>
                      </a:extLst>
                    </a:gridCol>
                    <a:gridCol w="5681050">
                      <a:extLst>
                        <a:ext uri="{9D8B030D-6E8A-4147-A177-3AD203B41FA5}">
                          <a16:colId xmlns:a16="http://schemas.microsoft.com/office/drawing/2014/main" val="313003235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ru-RU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Параметр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ru-RU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Значение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2145492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50000"/>
                            </a:lnSpc>
                          </a:pPr>
                          <a:r>
                            <a:rPr lang="ru-RU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Объём выборки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50000"/>
                            </a:lnSpc>
                          </a:pPr>
                          <a:r>
                            <a:rPr lang="ru-RU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 точек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9929958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50000"/>
                            </a:lnSpc>
                          </a:pPr>
                          <a:r>
                            <a:rPr lang="ru-RU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Степени полинома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50000"/>
                            </a:lnSpc>
                          </a:pPr>
                          <a:r>
                            <a:rPr lang="ru-RU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1-6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4578098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50000"/>
                            </a:lnSpc>
                          </a:pPr>
                          <a:r>
                            <a:rPr lang="ru-RU" sz="1800" b="0" i="0" kern="1200" dirty="0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Распределения ошибок</a:t>
                          </a:r>
                          <a:endParaRPr lang="ru-RU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50000"/>
                            </a:lnSpc>
                          </a:pPr>
                          <a:r>
                            <a:rPr lang="ru-RU" sz="1800" b="0" i="0" kern="1200" dirty="0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Лапласа, </a:t>
                          </a:r>
                          <a:r>
                            <a:rPr lang="ru-RU" sz="1800" b="0" i="0" kern="1200" dirty="0" err="1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Гумбеля</a:t>
                          </a:r>
                          <a:r>
                            <a:rPr lang="ru-RU" sz="1800" b="0" i="0" kern="1200" dirty="0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, </a:t>
                          </a:r>
                          <a:r>
                            <a:rPr lang="ru-RU" sz="1800" b="0" i="0" kern="1200" dirty="0" err="1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Тьюки</a:t>
                          </a:r>
                          <a:r>
                            <a:rPr lang="ru-RU" sz="1800" b="0" i="0" kern="1200" dirty="0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 и др. (30 типов)</a:t>
                          </a:r>
                          <a:endParaRPr lang="ru-RU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5990144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50000"/>
                            </a:lnSpc>
                          </a:pPr>
                          <a:r>
                            <a:rPr lang="ru-RU" sz="1800" b="0" i="0" kern="1200" dirty="0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Уровни шума (коэффициент детерминации </a:t>
                          </a:r>
                          <a:r>
                            <a:rPr lang="en-US" sz="1800" b="0" i="0" kern="1200" dirty="0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R)</a:t>
                          </a:r>
                          <a:endParaRPr lang="ru-RU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50000"/>
                            </a:lnSpc>
                          </a:pPr>
                          <a:r>
                            <a:rPr lang="ru-RU" sz="1800" b="0" i="0" kern="1200" dirty="0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0.95 (низкий), 0.9 (средний), 0.8 (высокий)</a:t>
                          </a:r>
                          <a:endParaRPr lang="ru-RU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4326774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50000"/>
                            </a:lnSpc>
                          </a:pPr>
                          <a:r>
                            <a:rPr lang="ru-RU" sz="1800" b="0" i="0" kern="1200" dirty="0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Количество датасетов на комбинацию</a:t>
                          </a:r>
                          <a:endParaRPr lang="ru-RU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50000"/>
                            </a:lnSpc>
                          </a:pPr>
                          <a:r>
                            <a:rPr lang="ru-RU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389795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50000"/>
                            </a:lnSpc>
                          </a:pPr>
                          <a:r>
                            <a:rPr lang="ru-RU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Методы ядерной регрессии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50000"/>
                            </a:lnSpc>
                          </a:pPr>
                          <a:r>
                            <a:rPr lang="ru-RU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Правило Сильвермана, 5-</a:t>
                          </a:r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fold CV, LOOCV</a:t>
                          </a:r>
                          <a:endParaRPr lang="ru-RU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1900954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50000"/>
                            </a:lnSpc>
                          </a:pPr>
                          <a:r>
                            <a:rPr lang="ru-RU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Метод подбора степени полинома и параметров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ru-RU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и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endParaRPr lang="ru-RU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50000"/>
                            </a:lnSpc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632+ </a:t>
                          </a:r>
                          <a:r>
                            <a:rPr lang="ru-RU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бутстрап</a:t>
                          </a:r>
                          <a:r>
                            <a:rPr lang="ru-RU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[5]</a:t>
                          </a:r>
                          <a:endParaRPr lang="ru-RU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145550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50000"/>
                            </a:lnSpc>
                          </a:pPr>
                          <a:r>
                            <a:rPr lang="ru-RU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Метрики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50000"/>
                            </a:lnSpc>
                          </a:pPr>
                          <a:r>
                            <a:rPr lang="ru-RU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Интегральная среднеквадратичная ошибка </a:t>
                          </a:r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(IMSE)</a:t>
                          </a:r>
                        </a:p>
                        <a:p>
                          <a:pPr>
                            <a:lnSpc>
                              <a:spcPct val="150000"/>
                            </a:lnSpc>
                          </a:pPr>
                          <a:r>
                            <a:rPr lang="ru-RU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Интегральная средняя абсолютная ошибка </a:t>
                          </a:r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(IMAE)</a:t>
                          </a:r>
                        </a:p>
                        <a:p>
                          <a:pPr>
                            <a:lnSpc>
                              <a:spcPct val="150000"/>
                            </a:lnSpc>
                          </a:pPr>
                          <a:r>
                            <a:rPr lang="ru-RU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Максимальная ошибка </a:t>
                          </a:r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</a:t>
                          </a:r>
                          <a:r>
                            <a:rPr lang="en-US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MaxErr</a:t>
                          </a:r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ru-RU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2854157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Таблица 3">
                <a:extLst>
                  <a:ext uri="{FF2B5EF4-FFF2-40B4-BE49-F238E27FC236}">
                    <a16:creationId xmlns:a16="http://schemas.microsoft.com/office/drawing/2014/main" id="{6409C70B-EC06-CA28-3455-4AE195FFE9D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22752531"/>
                  </p:ext>
                </p:extLst>
              </p:nvPr>
            </p:nvGraphicFramePr>
            <p:xfrm>
              <a:off x="597528" y="719666"/>
              <a:ext cx="11362100" cy="4905756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5681050">
                      <a:extLst>
                        <a:ext uri="{9D8B030D-6E8A-4147-A177-3AD203B41FA5}">
                          <a16:colId xmlns:a16="http://schemas.microsoft.com/office/drawing/2014/main" val="1971457776"/>
                        </a:ext>
                      </a:extLst>
                    </a:gridCol>
                    <a:gridCol w="5681050">
                      <a:extLst>
                        <a:ext uri="{9D8B030D-6E8A-4147-A177-3AD203B41FA5}">
                          <a16:colId xmlns:a16="http://schemas.microsoft.com/office/drawing/2014/main" val="3130032351"/>
                        </a:ext>
                      </a:extLst>
                    </a:gridCol>
                  </a:tblGrid>
                  <a:tr h="453644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ru-RU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Параметр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ru-RU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Значение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21454925"/>
                      </a:ext>
                    </a:extLst>
                  </a:tr>
                  <a:tr h="453644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50000"/>
                            </a:lnSpc>
                          </a:pPr>
                          <a:r>
                            <a:rPr lang="ru-RU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Объём выборки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50000"/>
                            </a:lnSpc>
                          </a:pPr>
                          <a:r>
                            <a:rPr lang="ru-RU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 точек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99299585"/>
                      </a:ext>
                    </a:extLst>
                  </a:tr>
                  <a:tr h="453644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50000"/>
                            </a:lnSpc>
                          </a:pPr>
                          <a:r>
                            <a:rPr lang="ru-RU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Степени полинома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50000"/>
                            </a:lnSpc>
                          </a:pPr>
                          <a:r>
                            <a:rPr lang="ru-RU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1-6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45780984"/>
                      </a:ext>
                    </a:extLst>
                  </a:tr>
                  <a:tr h="453644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50000"/>
                            </a:lnSpc>
                          </a:pPr>
                          <a:r>
                            <a:rPr lang="ru-RU" sz="1800" b="0" i="0" kern="1200" dirty="0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Распределения ошибок</a:t>
                          </a:r>
                          <a:endParaRPr lang="ru-RU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50000"/>
                            </a:lnSpc>
                          </a:pPr>
                          <a:r>
                            <a:rPr lang="ru-RU" sz="1800" b="0" i="0" kern="1200" dirty="0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Лапласа, </a:t>
                          </a:r>
                          <a:r>
                            <a:rPr lang="ru-RU" sz="1800" b="0" i="0" kern="1200" dirty="0" err="1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Гумбеля</a:t>
                          </a:r>
                          <a:r>
                            <a:rPr lang="ru-RU" sz="1800" b="0" i="0" kern="1200" dirty="0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, </a:t>
                          </a:r>
                          <a:r>
                            <a:rPr lang="ru-RU" sz="1800" b="0" i="0" kern="1200" dirty="0" err="1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Тьюки</a:t>
                          </a:r>
                          <a:r>
                            <a:rPr lang="ru-RU" sz="1800" b="0" i="0" kern="1200" dirty="0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 и др. (30 типов)</a:t>
                          </a:r>
                          <a:endParaRPr lang="ru-RU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59901445"/>
                      </a:ext>
                    </a:extLst>
                  </a:tr>
                  <a:tr h="453644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50000"/>
                            </a:lnSpc>
                          </a:pPr>
                          <a:r>
                            <a:rPr lang="ru-RU" sz="1800" b="0" i="0" kern="1200" dirty="0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Уровни шума (коэффициент детерминации </a:t>
                          </a:r>
                          <a:r>
                            <a:rPr lang="en-US" sz="1800" b="0" i="0" kern="1200" dirty="0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R)</a:t>
                          </a:r>
                          <a:endParaRPr lang="ru-RU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50000"/>
                            </a:lnSpc>
                          </a:pPr>
                          <a:r>
                            <a:rPr lang="ru-RU" sz="1800" b="0" i="0" kern="1200" dirty="0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0.95 (низкий), 0.9 (средний), 0.8 (высокий)</a:t>
                          </a:r>
                          <a:endParaRPr lang="ru-RU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43267744"/>
                      </a:ext>
                    </a:extLst>
                  </a:tr>
                  <a:tr h="453644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50000"/>
                            </a:lnSpc>
                          </a:pPr>
                          <a:r>
                            <a:rPr lang="ru-RU" sz="1800" b="0" i="0" kern="1200" dirty="0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Количество датасетов на комбинацию</a:t>
                          </a:r>
                          <a:endParaRPr lang="ru-RU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50000"/>
                            </a:lnSpc>
                          </a:pPr>
                          <a:r>
                            <a:rPr lang="ru-RU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38979560"/>
                      </a:ext>
                    </a:extLst>
                  </a:tr>
                  <a:tr h="453644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50000"/>
                            </a:lnSpc>
                          </a:pPr>
                          <a:r>
                            <a:rPr lang="ru-RU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Методы ядерной регрессии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50000"/>
                            </a:lnSpc>
                          </a:pPr>
                          <a:r>
                            <a:rPr lang="ru-RU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Правило Сильвермана, 5-</a:t>
                          </a:r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fold CV, LOOCV</a:t>
                          </a:r>
                          <a:endParaRPr lang="ru-RU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19009549"/>
                      </a:ext>
                    </a:extLst>
                  </a:tr>
                  <a:tr h="453644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2"/>
                          <a:stretch>
                            <a:fillRect l="-215" t="-696000" r="-100536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50000"/>
                            </a:lnSpc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632+ </a:t>
                          </a:r>
                          <a:r>
                            <a:rPr lang="ru-RU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бутстрап</a:t>
                          </a:r>
                          <a:r>
                            <a:rPr lang="ru-RU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[5]</a:t>
                          </a:r>
                          <a:endParaRPr lang="ru-RU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14555003"/>
                      </a:ext>
                    </a:extLst>
                  </a:tr>
                  <a:tr h="1276604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50000"/>
                            </a:lnSpc>
                          </a:pPr>
                          <a:r>
                            <a:rPr lang="ru-RU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Метрики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50000"/>
                            </a:lnSpc>
                          </a:pPr>
                          <a:r>
                            <a:rPr lang="ru-RU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Интегральная среднеквадратичная ошибка </a:t>
                          </a:r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(IMSE)</a:t>
                          </a:r>
                        </a:p>
                        <a:p>
                          <a:pPr>
                            <a:lnSpc>
                              <a:spcPct val="150000"/>
                            </a:lnSpc>
                          </a:pPr>
                          <a:r>
                            <a:rPr lang="ru-RU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Интегральная средняя абсолютная ошибка </a:t>
                          </a:r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(IMAE)</a:t>
                          </a:r>
                        </a:p>
                        <a:p>
                          <a:pPr>
                            <a:lnSpc>
                              <a:spcPct val="150000"/>
                            </a:lnSpc>
                          </a:pPr>
                          <a:r>
                            <a:rPr lang="ru-RU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Максимальная ошибка </a:t>
                          </a:r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</a:t>
                          </a:r>
                          <a:r>
                            <a:rPr lang="en-US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MaxErr</a:t>
                          </a:r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ru-RU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2854157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7795564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52211F-D840-3878-739B-16E35221D3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995A710-51E0-CE7A-E81F-72C3AEBEF811}"/>
              </a:ext>
            </a:extLst>
          </p:cNvPr>
          <p:cNvSpPr txBox="1"/>
          <p:nvPr/>
        </p:nvSpPr>
        <p:spPr>
          <a:xfrm>
            <a:off x="5070591" y="0"/>
            <a:ext cx="20508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Результаты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E52EA5-F14C-5529-A879-73D9A7899A90}"/>
              </a:ext>
            </a:extLst>
          </p:cNvPr>
          <p:cNvSpPr txBox="1"/>
          <p:nvPr/>
        </p:nvSpPr>
        <p:spPr>
          <a:xfrm>
            <a:off x="525101" y="932507"/>
            <a:ext cx="11416420" cy="12943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наблюдения: 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Энтропийный метод демонстрирует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стабильность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при всех уровнях шума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Наибольшее улучшение достигнуто для полинома 2-й степени (-63% к ядерной регрессии)</a:t>
            </a:r>
          </a:p>
        </p:txBody>
      </p:sp>
      <p:pic>
        <p:nvPicPr>
          <p:cNvPr id="4" name="Рисунок 3" descr="Изображение выглядит как диаграмма, линия, График, текс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0A465BF-FA1C-A0CD-A6EE-6D6A9B3DCF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202" y="2444616"/>
            <a:ext cx="11329595" cy="373480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FE6FE7F-F128-49D0-1F99-DF46F2CF9BD3}"/>
              </a:ext>
            </a:extLst>
          </p:cNvPr>
          <p:cNvSpPr txBox="1"/>
          <p:nvPr/>
        </p:nvSpPr>
        <p:spPr>
          <a:xfrm>
            <a:off x="1995157" y="6179420"/>
            <a:ext cx="84763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Рис.1. Сравнение лучших оценок ядерного и энтропийного метода по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IMSE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63825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A17CF9-11BB-8E92-9837-8CEB23243A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D52EBD2-34A3-7824-147E-0C9CB9A9B380}"/>
              </a:ext>
            </a:extLst>
          </p:cNvPr>
          <p:cNvSpPr txBox="1"/>
          <p:nvPr/>
        </p:nvSpPr>
        <p:spPr>
          <a:xfrm>
            <a:off x="5018237" y="0"/>
            <a:ext cx="21555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Заключение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119950-4F22-A952-AE41-BFD3A317FB05}"/>
              </a:ext>
            </a:extLst>
          </p:cNvPr>
          <p:cNvSpPr txBox="1"/>
          <p:nvPr/>
        </p:nvSpPr>
        <p:spPr>
          <a:xfrm>
            <a:off x="387790" y="523220"/>
            <a:ext cx="11416420" cy="4135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50000"/>
              </a:lnSpc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Выводы:</a:t>
            </a: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ru-RU" dirty="0"/>
              <a:t>На малых выборках (n=30) кросс-валидация </a:t>
            </a:r>
            <a:r>
              <a:rPr lang="ru-RU" b="1" dirty="0"/>
              <a:t>нестабильна</a:t>
            </a:r>
            <a:r>
              <a:rPr lang="en-US" dirty="0"/>
              <a:t>;</a:t>
            </a: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ru-RU" dirty="0"/>
              <a:t>Энтропийный метод лучше по метрикам в </a:t>
            </a:r>
            <a:r>
              <a:rPr lang="ru-RU" b="1" dirty="0"/>
              <a:t>большинстве конфигураций</a:t>
            </a:r>
            <a:endParaRPr lang="en-US" b="1" dirty="0"/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ru-RU" dirty="0"/>
              <a:t>Метод </a:t>
            </a:r>
            <a:r>
              <a:rPr lang="ru-RU" b="1" dirty="0"/>
              <a:t>робастен</a:t>
            </a:r>
            <a:r>
              <a:rPr lang="ru-RU" dirty="0"/>
              <a:t> к распределению ошибок (не требует нормальности)</a:t>
            </a:r>
            <a:endParaRPr lang="en-US" dirty="0"/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ru-RU" dirty="0"/>
              <a:t>Работает устойчиво при </a:t>
            </a:r>
            <a:r>
              <a:rPr lang="ru-RU" b="1" dirty="0"/>
              <a:t>малом объёме выборки</a:t>
            </a:r>
            <a:r>
              <a:rPr lang="ru-RU" dirty="0"/>
              <a:t> (n=30)</a:t>
            </a:r>
            <a:endParaRPr lang="en-US" dirty="0"/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ru-RU" dirty="0"/>
              <a:t>Наибольший выигрыш для </a:t>
            </a:r>
            <a:r>
              <a:rPr lang="ru-RU" b="1" dirty="0"/>
              <a:t>низкого и среднего уровня шума </a:t>
            </a:r>
            <a:r>
              <a:rPr lang="ru-RU" dirty="0"/>
              <a:t>и</a:t>
            </a:r>
            <a:r>
              <a:rPr lang="ru-RU" b="1" dirty="0"/>
              <a:t> полиномов низкой степени</a:t>
            </a:r>
            <a:r>
              <a:rPr lang="ru-RU" dirty="0"/>
              <a:t> (1–3)</a:t>
            </a:r>
          </a:p>
        </p:txBody>
      </p:sp>
    </p:spTree>
    <p:extLst>
      <p:ext uri="{BB962C8B-B14F-4D97-AF65-F5344CB8AC3E}">
        <p14:creationId xmlns:p14="http://schemas.microsoft.com/office/powerpoint/2010/main" val="40810147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E088B1-270F-467A-485B-FE41C3B70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A506851-A264-79D0-5147-2CE6E03FBAAF}"/>
              </a:ext>
            </a:extLst>
          </p:cNvPr>
          <p:cNvSpPr txBox="1"/>
          <p:nvPr/>
        </p:nvSpPr>
        <p:spPr>
          <a:xfrm>
            <a:off x="4376426" y="0"/>
            <a:ext cx="34391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Список литературы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37EB01-75EB-F47F-3EB8-B95AA247CC82}"/>
              </a:ext>
            </a:extLst>
          </p:cNvPr>
          <p:cNvSpPr txBox="1"/>
          <p:nvPr/>
        </p:nvSpPr>
        <p:spPr>
          <a:xfrm>
            <a:off x="387790" y="523220"/>
            <a:ext cx="11416420" cy="62113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50000"/>
              </a:lnSpc>
              <a:buFont typeface="+mj-lt"/>
              <a:buAutoNum type="arabicPeriod"/>
            </a:pP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Дубнов Ю. А., Булычев А. В.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Приближенное оценивание с помощью ускоренного метода наибольшей энтропии. Часть 1. Постановка задачи и реализация для задачи регрессии // Информационные технологии и вычислительные системы. 2022.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№ 4. С. 69–80.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250000"/>
              </a:lnSpc>
              <a:buFont typeface="+mj-lt"/>
              <a:buAutoNum type="arabicPeriod"/>
            </a:pP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Golan A., Judge G. G., Miller D.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Maximum Entropy Econometrics: Robust Estimation with Limited Data. — Chichester: John Wiley and Sons Ltd., 1996.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250000"/>
              </a:lnSpc>
              <a:buFont typeface="+mj-lt"/>
              <a:buAutoNum type="arabicPeriod"/>
            </a:pP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Воеводин В. В., Кузнецов Ю. А.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Матрицы и вычисления. — М.: Наука, 1984.</a:t>
            </a:r>
          </a:p>
          <a:p>
            <a:pPr marL="342900" indent="-342900">
              <a:lnSpc>
                <a:spcPct val="250000"/>
              </a:lnSpc>
              <a:buFont typeface="+mj-lt"/>
              <a:buAutoNum type="arabicPeriod"/>
            </a:pP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Цыпкин Я. З.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Основы теории обучающихся систем. — М.: Наука, 1970.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250000"/>
              </a:lnSpc>
              <a:buFont typeface="+mj-lt"/>
              <a:buAutoNum type="arabicPeriod"/>
            </a:pP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Efron B.,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Tibshirani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R.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Improvements on cross-validation: the 632+ bootstrap method // J. Am. Stat. Assoc. 1997. V. 92(438). P. 548–560.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15175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F67235-B120-5DC2-02D3-EDE466B4EA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CD6835F-F652-25A6-F645-2290179685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68" y="640080"/>
            <a:ext cx="10911865" cy="4626864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612F587-5BFE-2158-1B6E-84D728510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6196" y="804672"/>
            <a:ext cx="10579608" cy="4297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BE410B-DACE-F062-AFA8-296F905A2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2729" y="1289303"/>
            <a:ext cx="9638443" cy="3339303"/>
          </a:xfrm>
          <a:ln>
            <a:noFill/>
          </a:ln>
        </p:spPr>
        <p:txBody>
          <a:bodyPr vert="horz" lIns="274320" tIns="182880" rIns="274320" bIns="182880" rtlCol="0" anchor="ctr" anchorCtr="1">
            <a:noAutofit/>
          </a:bodyPr>
          <a:lstStyle/>
          <a:p>
            <a:r>
              <a:rPr lang="ru-RU" sz="3200" dirty="0"/>
              <a:t>Спасибо за внимание</a:t>
            </a:r>
            <a:endParaRPr lang="en-US" sz="3200" kern="1200" cap="all" spc="200" baseline="0" dirty="0">
              <a:solidFill>
                <a:srgbClr val="262626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282713940"/>
      </p:ext>
    </p:extLst>
  </p:cSld>
  <p:clrMapOvr>
    <a:masterClrMapping/>
  </p:clrMapOvr>
</p:sld>
</file>

<file path=ppt/theme/theme1.xml><?xml version="1.0" encoding="utf-8"?>
<a:theme xmlns:a="http://schemas.openxmlformats.org/drawingml/2006/main" name="Посылка">
  <a:themeElements>
    <a:clrScheme name="Посылка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Посылка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Посылка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Посылка</Template>
  <TotalTime>301</TotalTime>
  <Words>701</Words>
  <Application>Microsoft Office PowerPoint</Application>
  <PresentationFormat>Широкоэкранный</PresentationFormat>
  <Paragraphs>76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7" baseType="lpstr">
      <vt:lpstr>Aptos</vt:lpstr>
      <vt:lpstr>Arial</vt:lpstr>
      <vt:lpstr>Cambria Math</vt:lpstr>
      <vt:lpstr>Corbel</vt:lpstr>
      <vt:lpstr>Gill Sans MT</vt:lpstr>
      <vt:lpstr>Times New Roman</vt:lpstr>
      <vt:lpstr>Посылка</vt:lpstr>
      <vt:lpstr>Оценивание регрессионных зависимостей энтропийным методом на малых выборках с ненормальными ошибками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Спасибо за внимание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Анфимов Александр Дмитриевич</dc:creator>
  <cp:lastModifiedBy>Анфимов Александр Дмитриевич</cp:lastModifiedBy>
  <cp:revision>12</cp:revision>
  <dcterms:created xsi:type="dcterms:W3CDTF">2024-12-16T13:09:05Z</dcterms:created>
  <dcterms:modified xsi:type="dcterms:W3CDTF">2026-03-09T11:30:39Z</dcterms:modified>
</cp:coreProperties>
</file>