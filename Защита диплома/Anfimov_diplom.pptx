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1"/>
  </p:notesMasterIdLst>
  <p:sldIdLst>
    <p:sldId id="256" r:id="rId2"/>
    <p:sldId id="257" r:id="rId3"/>
    <p:sldId id="269" r:id="rId4"/>
    <p:sldId id="278" r:id="rId5"/>
    <p:sldId id="279" r:id="rId6"/>
    <p:sldId id="271" r:id="rId7"/>
    <p:sldId id="274" r:id="rId8"/>
    <p:sldId id="272" r:id="rId9"/>
    <p:sldId id="285" r:id="rId10"/>
    <p:sldId id="277" r:id="rId11"/>
    <p:sldId id="281" r:id="rId12"/>
    <p:sldId id="273" r:id="rId13"/>
    <p:sldId id="282" r:id="rId14"/>
    <p:sldId id="283" r:id="rId15"/>
    <p:sldId id="284" r:id="rId16"/>
    <p:sldId id="286" r:id="rId17"/>
    <p:sldId id="275" r:id="rId18"/>
    <p:sldId id="287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626634-CE2F-4DD7-8FF3-A2AF8CEFAA4F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6371D2-86CC-402C-A2D2-EB78B92529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303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6371D2-86CC-402C-A2D2-EB78B925299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304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7709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86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4641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043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70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749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55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46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78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159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635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4C78990-BC74-4702-B11E-A02B45A34803}" type="datetimeFigureOut">
              <a:rPr lang="ru-RU" smtClean="0"/>
              <a:t>30.04.2026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3123A139-DB11-4900-831C-8645072E7A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5325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A77998-A4CF-F063-FCB7-A98A86FF3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1289303"/>
            <a:ext cx="10579607" cy="3339303"/>
          </a:xfrm>
          <a:ln>
            <a:noFill/>
          </a:ln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ru-RU" sz="3200" kern="1200" cap="all" spc="200" baseline="0" dirty="0">
                <a:solidFill>
                  <a:srgbClr val="26262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Оценивание регрессии: сравнение непараметрического и информационного подходов</a:t>
            </a:r>
            <a:endParaRPr lang="en-US" sz="3200" kern="1200" cap="all" spc="200" baseline="0" dirty="0">
              <a:solidFill>
                <a:srgbClr val="26262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4EE8E8-5C77-BF5F-64B3-35A305B88EF9}"/>
              </a:ext>
            </a:extLst>
          </p:cNvPr>
          <p:cNvSpPr txBox="1"/>
          <p:nvPr/>
        </p:nvSpPr>
        <p:spPr>
          <a:xfrm>
            <a:off x="539516" y="5431536"/>
            <a:ext cx="708200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Анфимов А. Д.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Булычёв А. В.</a:t>
            </a: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Направление: «Системный анализ и управление в больших системах»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Дата: 23.05.2026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736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06EC55-C903-76F6-3778-39E511D2B31D}"/>
              </a:ext>
            </a:extLst>
          </p:cNvPr>
          <p:cNvSpPr txBox="1"/>
          <p:nvPr/>
        </p:nvSpPr>
        <p:spPr>
          <a:xfrm>
            <a:off x="3895750" y="0"/>
            <a:ext cx="44005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и актуальность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3769B2-799A-2018-0427-DE5F4DA226CC}"/>
              </a:ext>
            </a:extLst>
          </p:cNvPr>
          <p:cNvSpPr txBox="1"/>
          <p:nvPr/>
        </p:nvSpPr>
        <p:spPr>
          <a:xfrm>
            <a:off x="387790" y="523220"/>
            <a:ext cx="11416420" cy="48208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построения регрессионных моделей: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Классический МНК требует выполнения стандартных условий (нормальность ошибок, достаточный для точности объём выборки)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Непараметрические методы (ядерная регрессия) не эффективны при малом количестве точек</a:t>
            </a:r>
          </a:p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Научная новизна:  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модифицированного энтропийного метода с «мягкой» рандомизацией к оценке регрессии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с ядерной регрессией на синтетических данных с различными распределениями ошибок</a:t>
            </a:r>
          </a:p>
        </p:txBody>
      </p:sp>
    </p:spTree>
    <p:extLst>
      <p:ext uri="{BB962C8B-B14F-4D97-AF65-F5344CB8AC3E}">
        <p14:creationId xmlns:p14="http://schemas.microsoft.com/office/powerpoint/2010/main" val="2029585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0761D-8F29-C587-E7E2-A5E1232CB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704444-3DDA-9E0C-80F3-B04881397336}"/>
              </a:ext>
            </a:extLst>
          </p:cNvPr>
          <p:cNvSpPr txBox="1"/>
          <p:nvPr/>
        </p:nvSpPr>
        <p:spPr>
          <a:xfrm>
            <a:off x="3895750" y="0"/>
            <a:ext cx="4781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исследования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D1A848-C0CA-FEEC-A160-E16E2D8D9878}"/>
              </a:ext>
            </a:extLst>
          </p:cNvPr>
          <p:cNvSpPr txBox="1"/>
          <p:nvPr/>
        </p:nvSpPr>
        <p:spPr>
          <a:xfrm>
            <a:off x="578194" y="523220"/>
            <a:ext cx="11416420" cy="412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</a:p>
          <a:p>
            <a:pPr>
              <a:lnSpc>
                <a:spcPct val="25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Построение робастных оценок регрессии на малых выборках без предположений о виде распределения ошибок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  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энтропийный метод оценивания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с ядерной регрессией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 чувствительность решения к различным уровням шума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78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A7F7-59A6-4C32-9FB4-373DFE45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8B456-C065-EBF3-B7B7-9D07C5DA29C2}"/>
              </a:ext>
            </a:extLst>
          </p:cNvPr>
          <p:cNvSpPr txBox="1"/>
          <p:nvPr/>
        </p:nvSpPr>
        <p:spPr>
          <a:xfrm>
            <a:off x="3752217" y="0"/>
            <a:ext cx="4687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Непараметрический подход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/>
              <p:nvPr/>
            </p:nvSpPr>
            <p:spPr>
              <a:xfrm>
                <a:off x="525100" y="599122"/>
                <a:ext cx="11416420" cy="5279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классического ядерного сглаживания: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каждой точке вычисляется сглаженная оценка функции плотности с помощью весов, определяемых ядром и полосой пропускания (окном) по формуле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Розенблата-Парзена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dirty="0"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acc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𝑛h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ru-RU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𝐾</m:t>
                          </m:r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sz="1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den>
                              </m:f>
                            </m:e>
                          </m:d>
                          <m:r>
                            <a:rPr lang="ru-RU" sz="140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 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  <a:cs typeface="Times New Roman" panose="02020603050405020304" pitchFamily="18" charset="0"/>
                  </a:rPr>
                  <a:t>элементы выборки,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ядерная функция, </a:t>
                </a:r>
                <a14:m>
                  <m:oMath xmlns:m="http://schemas.openxmlformats.org/officeDocument/2006/math">
                    <m:r>
                      <a:rPr lang="ru-RU" sz="1800" b="0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полоса пропускания (окно сглаживания).</a:t>
                </a:r>
              </a:p>
              <a:p>
                <a:pPr>
                  <a:lnSpc>
                    <a:spcPct val="150000"/>
                  </a:lnSpc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	В задаче регрессии оценка плотности используется для вычисления ядерных весов:</a:t>
                </a:r>
                <a:endParaRPr lang="en-US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𝑛𝑖</m:t>
                          </m:r>
                        </m:sub>
                      </m:sSub>
                      <m:d>
                        <m:d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sz="14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acc>
                            <m:accPr>
                              <m:chr m:val="̂"/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ru-RU" sz="1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1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ru-RU" sz="1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ru-RU" sz="1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den>
                    </m:f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𝐾</m:t>
                    </m:r>
                    <m:d>
                      <m:d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>
                                <a:effectLst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ru-RU" sz="18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h</m:t>
                            </m:r>
                          </m:den>
                        </m:f>
                      </m:e>
                    </m:d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а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 ширина окна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1800" dirty="0">
                    <a:effectLst/>
                    <a:latin typeface="Times New Roman" panose="02020603050405020304" pitchFamily="18" charset="0"/>
                    <a:ea typeface="DengXian" panose="02010600030101010101" pitchFamily="2" charset="-122"/>
                  </a:rPr>
                  <a:t> зависит от объёма выборки.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Данная весовая схема применяется для оценки условного математического ожидания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ru-RU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e>
                        <m:r>
                          <a:rPr lang="ru-RU" i="1" dirty="0" err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 формуле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Надарая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-Ватсона: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0" y="599122"/>
                <a:ext cx="11416420" cy="5279843"/>
              </a:xfrm>
              <a:prstGeom prst="rect">
                <a:avLst/>
              </a:prstGeom>
              <a:blipFill>
                <a:blip r:embed="rId2"/>
                <a:stretch>
                  <a:fillRect l="-427" r="-90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DABECC-B604-46B6-B164-CCE20BAE3B3F}"/>
                  </a:ext>
                </a:extLst>
              </p:cNvPr>
              <p:cNvSpPr txBox="1"/>
              <p:nvPr/>
            </p:nvSpPr>
            <p:spPr>
              <a:xfrm>
                <a:off x="3048494" y="5816063"/>
                <a:ext cx="6095010" cy="81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ru-RU" sz="1400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acc>
                      <m:d>
                        <m:d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14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400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num>
                        <m:den>
                          <m:f>
                            <m:fPr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ru-RU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h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ru-RU" sz="14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RU" sz="1400" i="1">
                                          <a:effectLst/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den>
                      </m:f>
                    </m:oMath>
                  </m:oMathPara>
                </a14:m>
                <a:endParaRPr lang="ru-RU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DABECC-B604-46B6-B164-CCE20BAE3B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494" y="5816063"/>
                <a:ext cx="6095010" cy="811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704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A7F7-59A6-4C32-9FB4-373DFE45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8B456-C065-EBF3-B7B7-9D07C5DA29C2}"/>
              </a:ext>
            </a:extLst>
          </p:cNvPr>
          <p:cNvSpPr txBox="1"/>
          <p:nvPr/>
        </p:nvSpPr>
        <p:spPr>
          <a:xfrm>
            <a:off x="3752217" y="0"/>
            <a:ext cx="4687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Непараметрический подход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/>
              <p:nvPr/>
            </p:nvSpPr>
            <p:spPr>
              <a:xfrm>
                <a:off x="525100" y="599122"/>
                <a:ext cx="11416420" cy="4439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Выбор ширины окна: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работе используются три подхода: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Правило </a:t>
                </a:r>
                <a:r>
                  <a:rPr lang="ru-RU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Сильвермана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эмпирическое правило, не зависит от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ru-RU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 как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baseline;</a:t>
                </a:r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5-fold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кросс-валидация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делит выборку на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частей, минимизирует усреднённую по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фолдам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MSE;</a:t>
                </a:r>
              </a:p>
              <a:p>
                <a:pPr marL="342900" indent="-34290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LOOCV (</a:t>
                </a:r>
                <a:r>
                  <a:rPr lang="ru-RU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leave-one-out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последовательно оставляет по одной точке для тестирования, обучается на остальных и усредняет ошибку по всем итерациям.</a:t>
                </a:r>
              </a:p>
              <a:p>
                <a:pPr>
                  <a:lnSpc>
                    <a:spcPct val="200000"/>
                  </a:lnSpc>
                </a:pPr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Ключевое ограничение: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нестабильность на малых выборках.</a:t>
                </a:r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0" y="599122"/>
                <a:ext cx="11416420" cy="4439933"/>
              </a:xfrm>
              <a:prstGeom prst="rect">
                <a:avLst/>
              </a:prstGeom>
              <a:blipFill>
                <a:blip r:embed="rId2"/>
                <a:stretch>
                  <a:fillRect l="-427" b="-123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256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8A7F7-59A6-4C32-9FB4-373DFE454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78B456-C065-EBF3-B7B7-9D07C5DA29C2}"/>
              </a:ext>
            </a:extLst>
          </p:cNvPr>
          <p:cNvSpPr txBox="1"/>
          <p:nvPr/>
        </p:nvSpPr>
        <p:spPr>
          <a:xfrm>
            <a:off x="4259343" y="0"/>
            <a:ext cx="36733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 подход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/>
              <p:nvPr/>
            </p:nvSpPr>
            <p:spPr>
              <a:xfrm>
                <a:off x="525100" y="599122"/>
                <a:ext cx="11416420" cy="5659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классического энтропийного метода: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Пусть оцениваемая зависимость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представляет собой модель с параметрами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∈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где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количество параметров, т. е.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 ∈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Параметры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ошибки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предполагаются непрерывными случайными величинами, которые определены на некоторых интервалах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  <m:r>
                          <a:rPr lang="ru-RU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Целью является восстановление по данным оптимальных функций плотности распределения (ФПР) случайных величин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путем максимизации функционала информационной энтропии:</a:t>
                </a: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=−</m:t>
                          </m:r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𝑑𝑎</m:t>
                              </m:r>
                            </m:e>
                          </m:nary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limLoc m:val="subSup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b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nary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→</m:t>
                          </m:r>
                          <m:func>
                            <m:func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C4E704A-6A1F-5F99-7A11-9B32B46C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00" y="599122"/>
                <a:ext cx="11416420" cy="5659755"/>
              </a:xfrm>
              <a:prstGeom prst="rect">
                <a:avLst/>
              </a:prstGeom>
              <a:blipFill>
                <a:blip r:embed="rId2"/>
                <a:stretch>
                  <a:fillRect l="-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959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D9ED9-9111-2160-EE0E-3ACEFF14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EE030-DBF6-ADB8-A0E2-3FA09E29B6D9}"/>
              </a:ext>
            </a:extLst>
          </p:cNvPr>
          <p:cNvSpPr txBox="1"/>
          <p:nvPr/>
        </p:nvSpPr>
        <p:spPr>
          <a:xfrm>
            <a:off x="4209650" y="0"/>
            <a:ext cx="3772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Энтропийный подход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7D71E8-C046-2B30-E902-BE71C9AB1A4A}"/>
                  </a:ext>
                </a:extLst>
              </p:cNvPr>
              <p:cNvSpPr txBox="1"/>
              <p:nvPr/>
            </p:nvSpPr>
            <p:spPr>
              <a:xfrm>
                <a:off x="457199" y="688064"/>
                <a:ext cx="11552222" cy="5802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Основы «мягкого» энтропийного метода: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Используется </a:t>
                </a:r>
                <a:r>
                  <a:rPr lang="ru-RU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гельдерова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норма разности невязки: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Задача сводится к максимизации функционала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  <m:r>
                          <a:rPr lang="ru-RU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объединяющего энтропию, «эмпирический риск» и среднюю норму ошибок, при условиях нормировки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d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Для учета ограничений вводится функционал Лагранжа, а условия оптимальности через производные Гато. Решение задачи в общем виде имеет вид: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𝑑𝑎</m:t>
                                  </m:r>
                                </m:e>
                              </m:nary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, </m:t>
                          </m:r>
                        </m:e>
                      </m:eqArr>
                      <m:eqArr>
                        <m:eqArr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</m:d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𝜀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num>
                            <m:den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sub>
                                <m:sup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func>
                                    <m:func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exp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e>
                                            <m:sub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sub>
                                          </m:sSub>
                                          <m:d>
                                            <m:dPr>
                                              <m:ctrlP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ru-RU" i="1">
                                                  <a:latin typeface="Cambria Math" panose="02040503050406030204" pitchFamily="18" charset="0"/>
                                                </a:rPr>
                                                <m:t>𝜀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</m:nary>
                            </m:den>
                          </m:f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. </m:t>
                          </m:r>
                        </m:e>
                      </m:eqArr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В качестве нормы в данном исследовании берется комбинация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норм: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u-RU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97D71E8-C046-2B30-E902-BE71C9AB1A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688064"/>
                <a:ext cx="11552222" cy="5802679"/>
              </a:xfrm>
              <a:prstGeom prst="rect">
                <a:avLst/>
              </a:prstGeom>
              <a:blipFill>
                <a:blip r:embed="rId2"/>
                <a:stretch>
                  <a:fillRect l="-422" r="-8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49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F301-507D-2287-D63E-51DCF913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AFDB0-D9B3-1ED6-2B5C-222E641BBD8E}"/>
              </a:ext>
            </a:extLst>
          </p:cNvPr>
          <p:cNvSpPr txBox="1"/>
          <p:nvPr/>
        </p:nvSpPr>
        <p:spPr>
          <a:xfrm>
            <a:off x="4235426" y="0"/>
            <a:ext cx="3721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эксперимента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6409C70B-EC06-CA28-3455-4AE195FFE9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6061255"/>
                  </p:ext>
                </p:extLst>
              </p:nvPr>
            </p:nvGraphicFramePr>
            <p:xfrm>
              <a:off x="597528" y="719666"/>
              <a:ext cx="11362100" cy="440994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Модели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Полиномы 1-6 степени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Двумерная смесь нормальных распределений (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𝐸</m:t>
                              </m:r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i="1" dirty="0" err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 подбора степени полинома и параметров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и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Таблица 3">
                <a:extLst>
                  <a:ext uri="{FF2B5EF4-FFF2-40B4-BE49-F238E27FC236}">
                    <a16:creationId xmlns:a16="http://schemas.microsoft.com/office/drawing/2014/main" id="{6409C70B-EC06-CA28-3455-4AE195FFE9D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26061255"/>
                  </p:ext>
                </p:extLst>
              </p:nvPr>
            </p:nvGraphicFramePr>
            <p:xfrm>
              <a:off x="597528" y="719666"/>
              <a:ext cx="11362100" cy="4409948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5681050">
                      <a:extLst>
                        <a:ext uri="{9D8B030D-6E8A-4147-A177-3AD203B41FA5}">
                          <a16:colId xmlns:a16="http://schemas.microsoft.com/office/drawing/2014/main" val="1971457776"/>
                        </a:ext>
                      </a:extLst>
                    </a:gridCol>
                    <a:gridCol w="5681050">
                      <a:extLst>
                        <a:ext uri="{9D8B030D-6E8A-4147-A177-3AD203B41FA5}">
                          <a16:colId xmlns:a16="http://schemas.microsoft.com/office/drawing/2014/main" val="3130032351"/>
                        </a:ext>
                      </a:extLst>
                    </a:gridCol>
                  </a:tblGrid>
                  <a:tr h="45364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Параметр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Значение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1454925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Объём выборки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 точек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99299585"/>
                      </a:ext>
                    </a:extLst>
                  </a:tr>
                  <a:tr h="86512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Модели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100215" t="-105634" r="-536" b="-316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5780984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sz="1800" b="0" i="0" kern="1200" dirty="0">
                              <a:solidFill>
                                <a:schemeClr val="dk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Количество датасетов на комбинацию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30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8979560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Методы ядерной регрессии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Правило Сильвермана, 5-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fold CV, LOOCV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19009549"/>
                      </a:ext>
                    </a:extLst>
                  </a:tr>
                  <a:tr h="453644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2"/>
                          <a:stretch>
                            <a:fillRect l="-215" t="-595946" r="-100536" b="-3054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632+ </a:t>
                          </a:r>
                          <a:r>
                            <a:rPr lang="ru-RU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бутстрап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4555003"/>
                      </a:ext>
                    </a:extLst>
                  </a:tr>
                  <a:tr h="1276604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Метрики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среднеквадратичная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(IMSE)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Интегральная средняя абсолютная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(IMAE)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ru-RU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Максимальная ошибка 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en-US" dirty="0" err="1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MaxErr</a:t>
                          </a:r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  <a:endParaRPr lang="ru-RU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54157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3F38E1B3-473B-4B37-935D-0271D5F395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6950265"/>
              </p:ext>
            </p:extLst>
          </p:nvPr>
        </p:nvGraphicFramePr>
        <p:xfrm>
          <a:off x="597528" y="5129088"/>
          <a:ext cx="11362100" cy="136093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81050">
                  <a:extLst>
                    <a:ext uri="{9D8B030D-6E8A-4147-A177-3AD203B41FA5}">
                      <a16:colId xmlns:a16="http://schemas.microsoft.com/office/drawing/2014/main" val="189054888"/>
                    </a:ext>
                  </a:extLst>
                </a:gridCol>
                <a:gridCol w="5681050">
                  <a:extLst>
                    <a:ext uri="{9D8B030D-6E8A-4147-A177-3AD203B41FA5}">
                      <a16:colId xmlns:a16="http://schemas.microsoft.com/office/drawing/2014/main" val="15257053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Генерация ошибок для полиномов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Значение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4559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Распределения ошибок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Лапласа,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Гумбеля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Тьюки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и др. (30 типов)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7921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Уровни шума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(коэффициент детерминации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R)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0.95 (низкий), 0.9 (средний), 0.8 (высокий)</a:t>
                      </a:r>
                      <a:endParaRPr lang="ru-RU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421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556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BF301-507D-2287-D63E-51DCF913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AFDB0-D9B3-1ED6-2B5C-222E641BBD8E}"/>
              </a:ext>
            </a:extLst>
          </p:cNvPr>
          <p:cNvSpPr txBox="1"/>
          <p:nvPr/>
        </p:nvSpPr>
        <p:spPr>
          <a:xfrm>
            <a:off x="4235426" y="0"/>
            <a:ext cx="37211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эксперимента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C7F687-33BE-4198-BCAC-5FD35E2891A2}"/>
              </a:ext>
            </a:extLst>
          </p:cNvPr>
          <p:cNvSpPr txBox="1"/>
          <p:nvPr/>
        </p:nvSpPr>
        <p:spPr>
          <a:xfrm>
            <a:off x="366897" y="523220"/>
            <a:ext cx="11458204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Для проверки на реальных данных использовался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 извержениям гейзера Старый служака.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7BC006-086D-47FD-B0B0-446DD214C5A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13424" y="1201148"/>
            <a:ext cx="8043096" cy="4789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0A78459-8DF8-491A-BC9A-B12458B4E0B9}"/>
              </a:ext>
            </a:extLst>
          </p:cNvPr>
          <p:cNvSpPr txBox="1"/>
          <p:nvPr/>
        </p:nvSpPr>
        <p:spPr>
          <a:xfrm>
            <a:off x="150172" y="6011614"/>
            <a:ext cx="11891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Рис. 1. Зависимость между продолжительностью извержения и временем ожидания, Гейзер "Старый Служака" (Озеро Йеллоустон).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4019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5A710-51E0-CE7A-E81F-72C3AEBEF811}"/>
              </a:ext>
            </a:extLst>
          </p:cNvPr>
          <p:cNvSpPr txBox="1"/>
          <p:nvPr/>
        </p:nvSpPr>
        <p:spPr>
          <a:xfrm>
            <a:off x="3485827" y="0"/>
            <a:ext cx="54949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 сравнения методов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52EA5-F14C-5529-A879-73D9A7899A90}"/>
              </a:ext>
            </a:extLst>
          </p:cNvPr>
          <p:cNvSpPr txBox="1"/>
          <p:nvPr/>
        </p:nvSpPr>
        <p:spPr>
          <a:xfrm>
            <a:off x="525101" y="932507"/>
            <a:ext cx="11416420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статистические подходы: 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 ядерных методов друг с другом использовался </a:t>
            </a: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 Фридмана с поправкой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Бонферрони</a:t>
            </a: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сравнения</a:t>
            </a:r>
            <a:r>
              <a:rPr lang="en-US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энтропийного подхода с непараметрическими использовался </a:t>
            </a: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 </a:t>
            </a:r>
            <a:r>
              <a:rPr lang="ru-RU" b="1" i="0" dirty="0" err="1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Уилкоксона</a:t>
            </a: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поправкой Холма</a:t>
            </a: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ru-RU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проверки устойчивости </a:t>
            </a:r>
            <a:r>
              <a:rPr lang="ru-RU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дополнительно сравнивались на наборе </a:t>
            </a:r>
            <a:r>
              <a:rPr lang="ru-RU" dirty="0" err="1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датасетов</a:t>
            </a:r>
            <a:r>
              <a:rPr lang="ru-RU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очищенном от выбросов по методу </a:t>
            </a:r>
            <a:r>
              <a:rPr lang="ru-RU" b="1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1,5 </a:t>
            </a:r>
            <a:r>
              <a:rPr lang="en-US" b="1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IQR</a:t>
            </a:r>
            <a:r>
              <a:rPr lang="ru-RU" dirty="0">
                <a:solidFill>
                  <a:srgbClr val="1D1D1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i="0" dirty="0">
              <a:solidFill>
                <a:srgbClr val="1D1D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63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5A710-51E0-CE7A-E81F-72C3AEBEF811}"/>
              </a:ext>
            </a:extLst>
          </p:cNvPr>
          <p:cNvSpPr txBox="1"/>
          <p:nvPr/>
        </p:nvSpPr>
        <p:spPr>
          <a:xfrm>
            <a:off x="3030444" y="0"/>
            <a:ext cx="6405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полиномиальные данные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52EA5-F14C-5529-A879-73D9A7899A90}"/>
              </a:ext>
            </a:extLst>
          </p:cNvPr>
          <p:cNvSpPr txBox="1"/>
          <p:nvPr/>
        </p:nvSpPr>
        <p:spPr>
          <a:xfrm>
            <a:off x="525101" y="932507"/>
            <a:ext cx="1141642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 по сравнению ядерных методов: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 методов кросс-валидации перед эмпирическим наблюдается только для низкого шума и высоких степеней.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6FE7F-F128-49D0-1F99-DF46F2CF9BD3}"/>
              </a:ext>
            </a:extLst>
          </p:cNvPr>
          <p:cNvSpPr txBox="1"/>
          <p:nvPr/>
        </p:nvSpPr>
        <p:spPr>
          <a:xfrm>
            <a:off x="262549" y="6228721"/>
            <a:ext cx="119294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2. Сравнение методов ядерного сглаживания по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полиномиальных данных после очистки от выбросов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0FE115-C1AE-4C5C-90FF-073C589792C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5239" y="2455545"/>
            <a:ext cx="11941521" cy="37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486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E52EA5-F14C-5529-A879-73D9A7899A90}"/>
                  </a:ext>
                </a:extLst>
              </p:cNvPr>
              <p:cNvSpPr txBox="1"/>
              <p:nvPr/>
            </p:nvSpPr>
            <p:spPr>
              <a:xfrm>
                <a:off x="525098" y="730490"/>
                <a:ext cx="11416420" cy="2120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наблюдения: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Энтропийный метод демонстрирует эффективность во всех конфигурациях по всем метрикам;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 </a:t>
                </a: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</a:rPr>
                  <a:t>84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% конфигураций различия статистически значимы на уровне 0,1%;</a:t>
                </a:r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Размер эффекта (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rank-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biseral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в большинстве случаев умеренный </a:t>
                </a:r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ru-RU" i="1"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0.3, 0.5</m:t>
                        </m:r>
                      </m:e>
                    </m:d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Наибольшее улучшение по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IMSE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достигнуто для полинома 2-й степени (-47,8% к ядерной регрессии).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E52EA5-F14C-5529-A879-73D9A7899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98" y="730490"/>
                <a:ext cx="11416420" cy="2120068"/>
              </a:xfrm>
              <a:prstGeom prst="rect">
                <a:avLst/>
              </a:prstGeom>
              <a:blipFill>
                <a:blip r:embed="rId2"/>
                <a:stretch>
                  <a:fillRect l="-427" b="-37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E6FE7F-F128-49D0-1F99-DF46F2CF9BD3}"/>
              </a:ext>
            </a:extLst>
          </p:cNvPr>
          <p:cNvSpPr txBox="1"/>
          <p:nvPr/>
        </p:nvSpPr>
        <p:spPr>
          <a:xfrm>
            <a:off x="579645" y="6304110"/>
            <a:ext cx="11032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3. Сравнение лучших оценок ядерного и энтропийного подходов по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полиномиальных данных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290710-C6FA-4004-ADF3-EA8F9C4A93E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79645" y="3165362"/>
            <a:ext cx="11032709" cy="29314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28353B-CDBF-4943-B93E-8C7A426BB39D}"/>
              </a:ext>
            </a:extLst>
          </p:cNvPr>
          <p:cNvSpPr txBox="1"/>
          <p:nvPr/>
        </p:nvSpPr>
        <p:spPr>
          <a:xfrm>
            <a:off x="3030444" y="0"/>
            <a:ext cx="6405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полиномиальные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36382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95A710-51E0-CE7A-E81F-72C3AEBEF811}"/>
              </a:ext>
            </a:extLst>
          </p:cNvPr>
          <p:cNvSpPr txBox="1"/>
          <p:nvPr/>
        </p:nvSpPr>
        <p:spPr>
          <a:xfrm>
            <a:off x="3540172" y="0"/>
            <a:ext cx="51116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смесевые данные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52EA5-F14C-5529-A879-73D9A7899A90}"/>
              </a:ext>
            </a:extLst>
          </p:cNvPr>
          <p:cNvSpPr txBox="1"/>
          <p:nvPr/>
        </p:nvSpPr>
        <p:spPr>
          <a:xfrm>
            <a:off x="525101" y="932507"/>
            <a:ext cx="1141642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 по сравнению ядерных методов: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Преимущество методов кросс-валидации перед эмпирическим правилом наблюдается по всем метрикам, кроме максимальной ошибки.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6FE7F-F128-49D0-1F99-DF46F2CF9BD3}"/>
              </a:ext>
            </a:extLst>
          </p:cNvPr>
          <p:cNvSpPr txBox="1"/>
          <p:nvPr/>
        </p:nvSpPr>
        <p:spPr>
          <a:xfrm>
            <a:off x="525101" y="6228721"/>
            <a:ext cx="111367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4. Сравнение методов ядерного сглаживания по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смесевых данных после очистки от выбросов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582F3F2-1895-4183-A0CE-186182ED5A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5101" y="2449262"/>
            <a:ext cx="11136772" cy="3648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266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E52EA5-F14C-5529-A879-73D9A7899A90}"/>
                  </a:ext>
                </a:extLst>
              </p:cNvPr>
              <p:cNvSpPr txBox="1"/>
              <p:nvPr/>
            </p:nvSpPr>
            <p:spPr>
              <a:xfrm>
                <a:off x="525098" y="730490"/>
                <a:ext cx="11416420" cy="2120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Основные наблюдения: 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Энтропийный метод демонстрирует сильное преимущество во всех конфигурациях по всем метрикам;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Все различия значимы на уровне 0,1% как до, так и после очистки от выбросов;</a:t>
                </a:r>
                <a:endParaRPr lang="ru-RU" sz="18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Размер эффекта (</a:t>
                </a:r>
                <a:r>
                  <a:rPr lang="en-US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rank-</a:t>
                </a:r>
                <a:r>
                  <a:rPr lang="en-US" sz="1800" dirty="0" err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biseral</a:t>
                </a:r>
                <a:r>
                  <a:rPr lang="ru-RU" sz="18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) большой во всех случаях </a:t>
                </a:r>
                <a14:m>
                  <m:oMath xmlns:m="http://schemas.openxmlformats.org/officeDocument/2006/math">
                    <m:r>
                      <a:rPr lang="ru-RU" sz="18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𝑟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&gt;0</m:t>
                    </m:r>
                    <m:r>
                      <a:rPr lang="ru-RU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8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После очистки достигает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0,86</m:t>
                    </m:r>
                  </m:oMath>
                </a14:m>
                <a:r>
                  <a:rPr lang="ru-RU" dirty="0"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0,87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Среднее улучшение по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IMSE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95,9%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E52EA5-F14C-5529-A879-73D9A7899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098" y="730490"/>
                <a:ext cx="11416420" cy="2120068"/>
              </a:xfrm>
              <a:prstGeom prst="rect">
                <a:avLst/>
              </a:prstGeom>
              <a:blipFill>
                <a:blip r:embed="rId2"/>
                <a:stretch>
                  <a:fillRect l="-427" b="-37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E6FE7F-F128-49D0-1F99-DF46F2CF9BD3}"/>
              </a:ext>
            </a:extLst>
          </p:cNvPr>
          <p:cNvSpPr txBox="1"/>
          <p:nvPr/>
        </p:nvSpPr>
        <p:spPr>
          <a:xfrm>
            <a:off x="525097" y="6304110"/>
            <a:ext cx="11302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5. Сравнение лучших оценок ядерного и энтропийного подходов по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IMSE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смесевых данных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8353B-CDBF-4943-B93E-8C7A426BB39D}"/>
              </a:ext>
            </a:extLst>
          </p:cNvPr>
          <p:cNvSpPr txBox="1"/>
          <p:nvPr/>
        </p:nvSpPr>
        <p:spPr>
          <a:xfrm>
            <a:off x="3030444" y="0"/>
            <a:ext cx="50860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смесевые данные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0F1C16-0002-4222-B891-07BAC41C30B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25097" y="3057828"/>
            <a:ext cx="11302725" cy="318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91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211F-D840-3878-739B-16E35221D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E52EA5-F14C-5529-A879-73D9A7899A90}"/>
              </a:ext>
            </a:extLst>
          </p:cNvPr>
          <p:cNvSpPr txBox="1"/>
          <p:nvPr/>
        </p:nvSpPr>
        <p:spPr>
          <a:xfrm>
            <a:off x="387790" y="5444394"/>
            <a:ext cx="1141642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наблюдения: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ядерные методы показали чуть лучшие значения метрик (разница 3–4%);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28353B-CDBF-4943-B93E-8C7A426BB39D}"/>
              </a:ext>
            </a:extLst>
          </p:cNvPr>
          <p:cNvSpPr txBox="1"/>
          <p:nvPr/>
        </p:nvSpPr>
        <p:spPr>
          <a:xfrm>
            <a:off x="3524527" y="0"/>
            <a:ext cx="51429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Результаты: реальные данные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Таблица 3">
                <a:extLst>
                  <a:ext uri="{FF2B5EF4-FFF2-40B4-BE49-F238E27FC236}">
                    <a16:creationId xmlns:a16="http://schemas.microsoft.com/office/drawing/2014/main" id="{4173D68B-D144-4F2D-AD35-008D4CDE9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678848"/>
                  </p:ext>
                </p:extLst>
              </p:nvPr>
            </p:nvGraphicFramePr>
            <p:xfrm>
              <a:off x="601354" y="1128760"/>
              <a:ext cx="10989292" cy="412546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747323">
                      <a:extLst>
                        <a:ext uri="{9D8B030D-6E8A-4147-A177-3AD203B41FA5}">
                          <a16:colId xmlns:a16="http://schemas.microsoft.com/office/drawing/2014/main" val="2582575054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2884779805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3311561349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780616856"/>
                        </a:ext>
                      </a:extLst>
                    </a:gridCol>
                  </a:tblGrid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Метод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𝑹𝑴𝑺</m:t>
                                </m:r>
                                <m:sSub>
                                  <m:sSubPr>
                                    <m:ctrlPr>
                                      <a:rPr lang="ru-RU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𝑪𝑽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𝑴𝑨𝑬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𝑪𝑽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ru-RU" sz="14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𝑴𝒂𝒙𝑬𝒓𝒓</m:t>
                                    </m:r>
                                  </m:e>
                                  <m:sub>
                                    <m:r>
                                      <a:rPr lang="en-US" sz="1400" b="1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𝑪𝑽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u-RU" sz="14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231595058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Правило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Сильвермана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0.386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0.305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1.040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714726768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5-</a:t>
                          </a: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fold 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0.378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0.297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1.088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774294336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LOOCV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0.378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0.296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1.088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601136823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Энтропийный подход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0.392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0.304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ru-RU" sz="1400" i="1" dirty="0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1.080</m:t>
                                </m:r>
                              </m:oMath>
                            </m:oMathPara>
                          </a14:m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1058109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Таблица 3">
                <a:extLst>
                  <a:ext uri="{FF2B5EF4-FFF2-40B4-BE49-F238E27FC236}">
                    <a16:creationId xmlns:a16="http://schemas.microsoft.com/office/drawing/2014/main" id="{4173D68B-D144-4F2D-AD35-008D4CDE9DD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1678848"/>
                  </p:ext>
                </p:extLst>
              </p:nvPr>
            </p:nvGraphicFramePr>
            <p:xfrm>
              <a:off x="601354" y="1128760"/>
              <a:ext cx="10989292" cy="4125465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2747323">
                      <a:extLst>
                        <a:ext uri="{9D8B030D-6E8A-4147-A177-3AD203B41FA5}">
                          <a16:colId xmlns:a16="http://schemas.microsoft.com/office/drawing/2014/main" val="2582575054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2884779805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3311561349"/>
                        </a:ext>
                      </a:extLst>
                    </a:gridCol>
                    <a:gridCol w="2747323">
                      <a:extLst>
                        <a:ext uri="{9D8B030D-6E8A-4147-A177-3AD203B41FA5}">
                          <a16:colId xmlns:a16="http://schemas.microsoft.com/office/drawing/2014/main" val="780616856"/>
                        </a:ext>
                      </a:extLst>
                    </a:gridCol>
                  </a:tblGrid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Метод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222" t="-741" r="-200887" b="-4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222" t="-741" r="-100887" b="-4029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00222" t="-741" r="-887" b="-4029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31595058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 dirty="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Правило </a:t>
                          </a:r>
                          <a:r>
                            <a:rPr lang="ru-RU" sz="1400" dirty="0" err="1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Сильвермана</a:t>
                          </a:r>
                          <a:endParaRPr lang="ru-RU" sz="1400" dirty="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222" t="-100000" r="-2008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222" t="-100000" r="-1008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00222" t="-100000" r="-887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4726768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5-</a:t>
                          </a: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fold 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222" t="-201481" r="-200887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222" t="-201481" r="-100887" b="-2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00222" t="-201481" r="-887" b="-20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4294336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en-US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LOOCV</a:t>
                          </a:r>
                          <a:endParaRPr lang="ru-RU" sz="1400">
                            <a:effectLst/>
                            <a:latin typeface="Times New Roman" panose="020206030504050203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222" t="-299265" r="-200887" b="-1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222" t="-299265" r="-100887" b="-1007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00222" t="-299265" r="-887" b="-1007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1136823"/>
                      </a:ext>
                    </a:extLst>
                  </a:tr>
                  <a:tr h="825093">
                    <a:tc>
                      <a:txBody>
                        <a:bodyPr/>
                        <a:lstStyle/>
                        <a:p>
                          <a:pPr indent="450215" algn="ctr">
                            <a:lnSpc>
                              <a:spcPct val="150000"/>
                            </a:lnSpc>
                            <a:spcAft>
                              <a:spcPts val="800"/>
                            </a:spcAft>
                          </a:pPr>
                          <a:r>
                            <a:rPr lang="ru-RU" sz="1400">
                              <a:effectLst/>
                              <a:latin typeface="Times New Roman" panose="020206030504050203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Энтропийный подход</a:t>
                          </a: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222" t="-402222" r="-200887" b="-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222" t="-402222" r="-100887" b="-148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300222" t="-402222" r="-887" b="-148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58109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EDF80D5F-1788-4E2A-B437-D602366824D4}"/>
              </a:ext>
            </a:extLst>
          </p:cNvPr>
          <p:cNvSpPr txBox="1"/>
          <p:nvPr/>
        </p:nvSpPr>
        <p:spPr>
          <a:xfrm>
            <a:off x="2495550" y="617787"/>
            <a:ext cx="7200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Таблица – 1. Результаты оценки качества методов на реальных данных.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3507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7CF9-11BB-8E92-9837-8CEB2324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52EBD2-34A3-7824-147E-0C9CB9A9B380}"/>
              </a:ext>
            </a:extLst>
          </p:cNvPr>
          <p:cNvSpPr txBox="1"/>
          <p:nvPr/>
        </p:nvSpPr>
        <p:spPr>
          <a:xfrm>
            <a:off x="3127270" y="0"/>
            <a:ext cx="5937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энтропийного метода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9950-4F22-A952-AE41-BFD3A317FB05}"/>
              </a:ext>
            </a:extLst>
          </p:cNvPr>
          <p:cNvSpPr txBox="1"/>
          <p:nvPr/>
        </p:nvSpPr>
        <p:spPr>
          <a:xfrm>
            <a:off x="387790" y="523220"/>
            <a:ext cx="11416420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Основное ограничение: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склонность к консервативному выбору моделей (так называемая «перестраховка»)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09E51E8-1CEA-4008-B2F0-BE4B12E5DAE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25743" y="1308501"/>
            <a:ext cx="10340513" cy="49609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ECE366-A848-4291-B57A-665B2B55E3BA}"/>
              </a:ext>
            </a:extLst>
          </p:cNvPr>
          <p:cNvSpPr txBox="1"/>
          <p:nvPr/>
        </p:nvSpPr>
        <p:spPr>
          <a:xfrm>
            <a:off x="1517442" y="6334780"/>
            <a:ext cx="9157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DengXian" panose="02010600030101010101" pitchFamily="2" charset="-122"/>
              </a:rPr>
              <a:t>Рис. 6. Систематическое смещение подбора степени полинома в энтропийном подходе.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7467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7CF9-11BB-8E92-9837-8CEB2324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52EBD2-34A3-7824-147E-0C9CB9A9B380}"/>
              </a:ext>
            </a:extLst>
          </p:cNvPr>
          <p:cNvSpPr txBox="1"/>
          <p:nvPr/>
        </p:nvSpPr>
        <p:spPr>
          <a:xfrm>
            <a:off x="5018237" y="0"/>
            <a:ext cx="21555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119950-4F22-A952-AE41-BFD3A317FB05}"/>
                  </a:ext>
                </a:extLst>
              </p:cNvPr>
              <p:cNvSpPr txBox="1"/>
              <p:nvPr/>
            </p:nvSpPr>
            <p:spPr>
              <a:xfrm>
                <a:off x="387790" y="523220"/>
                <a:ext cx="11416420" cy="4907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250000"/>
                  </a:lnSpc>
                </a:pP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Выводы: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Энтропийный метод с «мягкой» рандомизацией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эффективен на малых выборках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робастен к распределению ошибок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синтетических данных метод статистически значимо превосходит ядерную регрессию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уровне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значимости </a:t>
                </a:r>
                <a14:m>
                  <m:oMath xmlns:m="http://schemas.openxmlformats.org/officeDocument/2006/math">
                    <m:r>
                      <a:rPr lang="ru-RU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ru-RU" b="1" i="1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 большинстве конфигураций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b="0" i="0" dirty="0">
                    <a:solidFill>
                      <a:srgbClr val="1D1D1F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 реальных данных метод конкурентоспособен, уступая на 3–4% ядерным методам по выбранным метрикам;</a:t>
                </a:r>
              </a:p>
              <a:p>
                <a:pPr marL="285750" indent="-285750" algn="just">
                  <a:lnSpc>
                    <a:spcPct val="250000"/>
                  </a:lnSpc>
                  <a:buFont typeface="Arial" panose="020B0604020202020204" pitchFamily="34" charset="0"/>
                  <a:buChar char="•"/>
                </a:pP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Наибольший выигрыш для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низкого уровня шума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𝟗𝟓</m:t>
                        </m:r>
                      </m:e>
                    </m:d>
                  </m:oMath>
                </a14:m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полиномов низкой степени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2-3</a:t>
                </a:r>
                <a:r>
                  <a:rPr lang="ru-RU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ru-RU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C119950-4F22-A952-AE41-BFD3A317F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90" y="523220"/>
                <a:ext cx="11416420" cy="4907113"/>
              </a:xfrm>
              <a:prstGeom prst="rect">
                <a:avLst/>
              </a:prstGeom>
              <a:blipFill>
                <a:blip r:embed="rId2"/>
                <a:stretch>
                  <a:fillRect l="-481" r="-481" b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014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17CF9-11BB-8E92-9837-8CEB23243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52EBD2-34A3-7824-147E-0C9CB9A9B380}"/>
              </a:ext>
            </a:extLst>
          </p:cNvPr>
          <p:cNvSpPr txBox="1"/>
          <p:nvPr/>
        </p:nvSpPr>
        <p:spPr>
          <a:xfrm>
            <a:off x="4094490" y="0"/>
            <a:ext cx="4003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9950-4F22-A952-AE41-BFD3A317FB05}"/>
              </a:ext>
            </a:extLst>
          </p:cNvPr>
          <p:cNvSpPr txBox="1"/>
          <p:nvPr/>
        </p:nvSpPr>
        <p:spPr>
          <a:xfrm>
            <a:off x="387790" y="523220"/>
            <a:ext cx="11416420" cy="343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Возможные направления: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</a:t>
            </a:r>
            <a:r>
              <a:rPr lang="ru-RU" b="1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гибридного подхода</a:t>
            </a:r>
            <a:r>
              <a:rPr lang="ru-RU" b="0" i="0" dirty="0">
                <a:solidFill>
                  <a:srgbClr val="1D1D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объединяющего ядерный и энтропийный методы для сохранения устойчивости и гибкости аппроксимации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Развитие вычислительных методов для работы с данными большой размерности, связанных с семплированием по методу Монте-Карло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045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F67235-B120-5DC2-02D3-EDE466B4E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CD6835F-F652-25A6-F645-229017968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12F587-5BFE-2158-1B6E-84D728510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BE410B-DACE-F062-AFA8-296F905A2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Autofit/>
          </a:bodyPr>
          <a:lstStyle/>
          <a:p>
            <a:r>
              <a:rPr lang="ru-RU" sz="3200" dirty="0"/>
              <a:t>Спасибо за внимание</a:t>
            </a:r>
            <a:endParaRPr lang="en-US" sz="3200" kern="1200" cap="all" spc="200" baseline="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82713940"/>
      </p:ext>
    </p:extLst>
  </p:cSld>
  <p:clrMapOvr>
    <a:masterClrMapping/>
  </p:clrMapOvr>
</p:sld>
</file>

<file path=ppt/theme/theme1.xml><?xml version="1.0" encoding="utf-8"?>
<a:theme xmlns:a="http://schemas.openxmlformats.org/drawingml/2006/main" name="Посылка">
  <a:themeElements>
    <a:clrScheme name="Посылка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Посылка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Посылка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1152</TotalTime>
  <Words>1149</Words>
  <Application>Microsoft Office PowerPoint</Application>
  <PresentationFormat>Широкоэкранный</PresentationFormat>
  <Paragraphs>146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6" baseType="lpstr">
      <vt:lpstr>Aptos</vt:lpstr>
      <vt:lpstr>Arial</vt:lpstr>
      <vt:lpstr>Cambria Math</vt:lpstr>
      <vt:lpstr>Corbel</vt:lpstr>
      <vt:lpstr>Gill Sans MT</vt:lpstr>
      <vt:lpstr>Times New Roman</vt:lpstr>
      <vt:lpstr>Посылка</vt:lpstr>
      <vt:lpstr>Оценивание регрессии: сравнение непараметрического и информационного подходов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энтропийныЙ ПОДХОД ДЛЯ робастноГО ОцениваниЯЕ регрессионных зависимостей энтропийным методом с УЧЕТОМ  на малых выборках с ненормальными ошибками</dc:title>
  <dc:creator>Анфимов Александр Дмитриевич</dc:creator>
  <cp:lastModifiedBy>Александр Анфимов</cp:lastModifiedBy>
  <cp:revision>50</cp:revision>
  <dcterms:created xsi:type="dcterms:W3CDTF">2024-12-16T13:09:05Z</dcterms:created>
  <dcterms:modified xsi:type="dcterms:W3CDTF">2026-04-30T10:42:15Z</dcterms:modified>
</cp:coreProperties>
</file>