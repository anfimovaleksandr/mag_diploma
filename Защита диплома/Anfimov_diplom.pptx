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1"/>
  </p:notesMasterIdLst>
  <p:sldIdLst>
    <p:sldId id="256" r:id="rId2"/>
    <p:sldId id="257" r:id="rId3"/>
    <p:sldId id="269" r:id="rId4"/>
    <p:sldId id="278" r:id="rId5"/>
    <p:sldId id="279" r:id="rId6"/>
    <p:sldId id="271" r:id="rId7"/>
    <p:sldId id="274" r:id="rId8"/>
    <p:sldId id="272" r:id="rId9"/>
    <p:sldId id="285" r:id="rId10"/>
    <p:sldId id="277" r:id="rId11"/>
    <p:sldId id="281" r:id="rId12"/>
    <p:sldId id="273" r:id="rId13"/>
    <p:sldId id="282" r:id="rId14"/>
    <p:sldId id="283" r:id="rId15"/>
    <p:sldId id="284" r:id="rId16"/>
    <p:sldId id="286" r:id="rId17"/>
    <p:sldId id="275" r:id="rId18"/>
    <p:sldId id="287" r:id="rId19"/>
    <p:sldId id="26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626634-CE2F-4DD7-8FF3-A2AF8CEFAA4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371D2-86CC-402C-A2D2-EB78B92529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303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6371D2-86CC-402C-A2D2-EB78B925299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304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1770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865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04641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431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7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5749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552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46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785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159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663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D4C78990-BC74-4702-B11E-A02B45A34803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32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A77998-A4CF-F063-FCB7-A98A86FF3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1289303"/>
            <a:ext cx="10579607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kern="1200" cap="all" spc="200" baseline="0" dirty="0">
                <a:solidFill>
                  <a:srgbClr val="2626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Оценивание регрессии: сравнение непараметрического и информационного подходов</a:t>
            </a:r>
            <a:endParaRPr lang="en-US" sz="3200" kern="1200" cap="all" spc="200" baseline="0" dirty="0">
              <a:solidFill>
                <a:srgbClr val="26262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4EE8E8-5C77-BF5F-64B3-35A305B88EF9}"/>
              </a:ext>
            </a:extLst>
          </p:cNvPr>
          <p:cNvSpPr txBox="1"/>
          <p:nvPr/>
        </p:nvSpPr>
        <p:spPr>
          <a:xfrm>
            <a:off x="539516" y="5431536"/>
            <a:ext cx="70820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А. Д.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А. В.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20.05.2026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736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06EC55-C903-76F6-3778-39E511D2B31D}"/>
              </a:ext>
            </a:extLst>
          </p:cNvPr>
          <p:cNvSpPr txBox="1"/>
          <p:nvPr/>
        </p:nvSpPr>
        <p:spPr>
          <a:xfrm>
            <a:off x="3895750" y="0"/>
            <a:ext cx="4400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и актуальность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769B2-799A-2018-0427-DE5F4DA226CC}"/>
              </a:ext>
            </a:extLst>
          </p:cNvPr>
          <p:cNvSpPr txBox="1"/>
          <p:nvPr/>
        </p:nvSpPr>
        <p:spPr>
          <a:xfrm>
            <a:off x="387790" y="523220"/>
            <a:ext cx="11416420" cy="4820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построения регрессионных моделей: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МНК требует выполнения стандартных условий (нормальность ошибок, достаточный для состоятельности оценок объём выборки)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Непараметрические методы (ядерная регрессия) не эффективны при малом количестве точек</a:t>
            </a: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Научная новизна: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модифицированного энтропийного метода с «мягкой» рандомизацией к оценке регрессии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ядерной регрессией на синтетических и реальных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2029585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0761D-8F29-C587-E7E2-A5E1232C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704444-3DDA-9E0C-80F3-B04881397336}"/>
              </a:ext>
            </a:extLst>
          </p:cNvPr>
          <p:cNvSpPr txBox="1"/>
          <p:nvPr/>
        </p:nvSpPr>
        <p:spPr>
          <a:xfrm>
            <a:off x="3895750" y="0"/>
            <a:ext cx="52429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исследования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1A848-C0CA-FEEC-A160-E16E2D8D9878}"/>
              </a:ext>
            </a:extLst>
          </p:cNvPr>
          <p:cNvSpPr txBox="1"/>
          <p:nvPr/>
        </p:nvSpPr>
        <p:spPr>
          <a:xfrm>
            <a:off x="578194" y="523220"/>
            <a:ext cx="11416420" cy="5547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  <a:p>
            <a:pPr algn="just">
              <a:lnSpc>
                <a:spcPct val="2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Разработка и экспериментальное обоснование эффективности энтропийного метода оценивания регрессии с «мягкой» рандомизацией в условиях малых выборок и неопределённости распределения ошибок.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 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алгоритмическое обеспечение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энтропийного метода с «мягкой» рандомизацией для задачи регрессии.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сравнительный анализ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методами ядерной регрессии на синтетических и реальных данных.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границы применимости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метода в зависимости от объёма выборки, уровня шума и сложности модели.</a:t>
            </a:r>
          </a:p>
        </p:txBody>
      </p:sp>
    </p:spTree>
    <p:extLst>
      <p:ext uri="{BB962C8B-B14F-4D97-AF65-F5344CB8AC3E}">
        <p14:creationId xmlns:p14="http://schemas.microsoft.com/office/powerpoint/2010/main" val="182278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3752217" y="0"/>
            <a:ext cx="4687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52798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классического ядерного сглаживания: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каждой точке вычисляется сглаженная оценка функции плотности с помощью весов, определяемых ядром и полосой пропускания (окном) по формуле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Розенблата-Парзена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acc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𝑛h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den>
                              </m:f>
                            </m:e>
                          </m:d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элементы выборки,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ядерная функция, </a:t>
                </a:r>
                <a14:m>
                  <m:oMath xmlns:m="http://schemas.openxmlformats.org/officeDocument/2006/math">
                    <m:r>
                      <a:rPr lang="ru-RU" sz="1800" b="0" i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полоса пропускания (окно сглаживания).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В задаче регрессии оценка плотности используется для вычисления ядерных весов:</a:t>
                </a:r>
                <a:endParaRPr lang="en-US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𝑛𝑖</m:t>
                          </m:r>
                        </m:sub>
                      </m:sSub>
                      <m:d>
                        <m:d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ru-RU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h</m:t>
                            </m:r>
                          </m:den>
                        </m:f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ширина окна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зависит от объёма выборки.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Данная весовая схема применяется для оценки условного математического ожидания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e>
                        <m:r>
                          <a:rPr lang="ru-RU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формуле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Надарая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-Ватсона: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5279843"/>
              </a:xfrm>
              <a:prstGeom prst="rect">
                <a:avLst/>
              </a:prstGeom>
              <a:blipFill>
                <a:blip r:embed="rId2"/>
                <a:stretch>
                  <a:fillRect l="-427" r="-9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DABECC-B604-46B6-B164-CCE20BAE3B3F}"/>
                  </a:ext>
                </a:extLst>
              </p:cNvPr>
              <p:cNvSpPr txBox="1"/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DABECC-B604-46B6-B164-CCE20BAE3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7042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3752217" y="0"/>
            <a:ext cx="4687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Непараметрический подход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4E704A-6A1F-5F99-7A11-9B32B46C3D6D}"/>
              </a:ext>
            </a:extLst>
          </p:cNvPr>
          <p:cNvSpPr txBox="1"/>
          <p:nvPr/>
        </p:nvSpPr>
        <p:spPr>
          <a:xfrm>
            <a:off x="525100" y="599122"/>
            <a:ext cx="11416420" cy="3331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ширины окна: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Сильвермана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5-fold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кросс-валидация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LOOCV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leave-one-out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кросс-валидация)</a:t>
            </a:r>
          </a:p>
          <a:p>
            <a:pPr>
              <a:lnSpc>
                <a:spcPct val="200000"/>
              </a:lnSpc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Ключевое ограничение: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нестабильность на малых выборках.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125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4259343" y="0"/>
            <a:ext cx="3673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классического энтропийного метода: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оцениваемая зависимость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представляет собой модель с параметрами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количество параметров, т. е.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ошибки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предполагаются непрерывными случайными величинами, которые определены на некоторых интервалах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Целью является восстановление по данным оптимальных функций плотности распределения (ФПР) случайных величин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путем максимизации функционала информационной энтропии: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𝑑𝑎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→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blipFill>
                <a:blip r:embed="rId2"/>
                <a:stretch>
                  <a:fillRect l="-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597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D9ED9-9111-2160-EE0E-3ACEFF149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DEE030-DBF6-ADB8-A0E2-3FA09E29B6D9}"/>
              </a:ext>
            </a:extLst>
          </p:cNvPr>
          <p:cNvSpPr txBox="1"/>
          <p:nvPr/>
        </p:nvSpPr>
        <p:spPr>
          <a:xfrm>
            <a:off x="4209650" y="0"/>
            <a:ext cx="3772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/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«мягкого» энтропийного метода: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Используется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гельдерова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норма разности невязки: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Задача сводится к максимизации функционала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ru-RU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объединяющего энтропию, «эмпирический риск» и среднюю норму ошибок, при условиях нормировки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учета ограничений вводится функционал Лагранжа, а условия оптимальности через производные Гато. Решение задачи в общем виде имеет вид: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𝑑𝑎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В качестве нормы в данном исследовании берется комбинация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blipFill>
                <a:blip r:embed="rId2"/>
                <a:stretch>
                  <a:fillRect l="-422" r="-8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449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F301-507D-2287-D63E-51DCF913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AAFDB0-D9B3-1ED6-2B5C-222E641BBD8E}"/>
              </a:ext>
            </a:extLst>
          </p:cNvPr>
          <p:cNvSpPr txBox="1"/>
          <p:nvPr/>
        </p:nvSpPr>
        <p:spPr>
          <a:xfrm>
            <a:off x="4235426" y="0"/>
            <a:ext cx="3721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эксперимента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6061255"/>
                  </p:ext>
                </p:extLst>
              </p:nvPr>
            </p:nvGraphicFramePr>
            <p:xfrm>
              <a:off x="597528" y="719666"/>
              <a:ext cx="11362100" cy="4409948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Полиномы 1-6 степени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Двумерная смесь нормальных распределений (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𝐸</m:t>
                              </m:r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 подбора степени полинома и параметров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6061255"/>
                  </p:ext>
                </p:extLst>
              </p:nvPr>
            </p:nvGraphicFramePr>
            <p:xfrm>
              <a:off x="597528" y="719666"/>
              <a:ext cx="11362100" cy="4409948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453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86512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00215" t="-105634" r="-536" b="-3161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15" t="-595946" r="-100536" b="-3054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127660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3F38E1B3-473B-4B37-935D-0271D5F39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6950265"/>
              </p:ext>
            </p:extLst>
          </p:nvPr>
        </p:nvGraphicFramePr>
        <p:xfrm>
          <a:off x="597528" y="5129088"/>
          <a:ext cx="11362100" cy="136093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681050">
                  <a:extLst>
                    <a:ext uri="{9D8B030D-6E8A-4147-A177-3AD203B41FA5}">
                      <a16:colId xmlns:a16="http://schemas.microsoft.com/office/drawing/2014/main" val="189054888"/>
                    </a:ext>
                  </a:extLst>
                </a:gridCol>
                <a:gridCol w="5681050">
                  <a:extLst>
                    <a:ext uri="{9D8B030D-6E8A-4147-A177-3AD203B41FA5}">
                      <a16:colId xmlns:a16="http://schemas.microsoft.com/office/drawing/2014/main" val="15257053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Генерация ошибок для полиномов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4559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Распределения ошибок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Лапласа,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Гумбеля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Тьюки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др. (30 типов)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921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Уровни шума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(коэффициент детерминации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0.95 (низкий), 0.9 (средний), 0.8 (высокий)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4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9556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F301-507D-2287-D63E-51DCF913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AAFDB0-D9B3-1ED6-2B5C-222E641BBD8E}"/>
              </a:ext>
            </a:extLst>
          </p:cNvPr>
          <p:cNvSpPr txBox="1"/>
          <p:nvPr/>
        </p:nvSpPr>
        <p:spPr>
          <a:xfrm>
            <a:off x="4235426" y="0"/>
            <a:ext cx="3721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эксперимента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C7F687-33BE-4198-BCAC-5FD35E2891A2}"/>
              </a:ext>
            </a:extLst>
          </p:cNvPr>
          <p:cNvSpPr txBox="1"/>
          <p:nvPr/>
        </p:nvSpPr>
        <p:spPr>
          <a:xfrm>
            <a:off x="366897" y="523220"/>
            <a:ext cx="11458204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Для проверки на реальных данных использовался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извержениям гейзера Старый служака.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57BC006-086D-47FD-B0B0-446DD214C5A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813424" y="1201148"/>
            <a:ext cx="8043096" cy="47899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A78459-8DF8-491A-BC9A-B12458B4E0B9}"/>
              </a:ext>
            </a:extLst>
          </p:cNvPr>
          <p:cNvSpPr txBox="1"/>
          <p:nvPr/>
        </p:nvSpPr>
        <p:spPr>
          <a:xfrm>
            <a:off x="150172" y="6011614"/>
            <a:ext cx="11891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Рис. 1. Зависимость между продолжительностью извержения и временем ожидания, Гейзер "Старый Служака" (Озеро Йеллоустон).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4019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485827" y="0"/>
            <a:ext cx="54949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Методология сравнения методов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3331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статистические подходы: 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 ядерных методов друг с другом использовался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Фридмана с поправкой </a:t>
            </a:r>
            <a:r>
              <a:rPr lang="ru-RU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Бонферрони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</a:t>
            </a:r>
            <a:r>
              <a:rPr lang="en-US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энтропийного подхода с непараметрическими использовался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Уилкоксона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поправкой Холма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проверки устойчивости 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дополнительно сравнивались на наборе </a:t>
            </a:r>
            <a:r>
              <a:rPr lang="ru-RU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датасетов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очищенном от выбросов по методу </a:t>
            </a:r>
            <a:r>
              <a:rPr lang="ru-RU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1,5 </a:t>
            </a:r>
            <a:r>
              <a:rPr lang="en-US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IQR</a:t>
            </a:r>
            <a:r>
              <a:rPr lang="ru-RU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(1,5 </a:t>
            </a:r>
            <a:r>
              <a:rPr lang="ru-RU" b="1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межквартильных</a:t>
            </a:r>
            <a:r>
              <a:rPr lang="ru-RU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разброса)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63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030444" y="0"/>
            <a:ext cx="6405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полиномиальные данные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 по сравнению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перед эмпирическим наблюдается только для низкого шума и высоких степеней.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262549" y="6228721"/>
            <a:ext cx="11929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2. Сравнение методов ядерного сглаживания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 после очистки от выбросов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60FE115-C1AE-4C5C-90FF-073C589792C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5239" y="2455545"/>
            <a:ext cx="11941521" cy="37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486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/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эффективность во всех конфигурациях по всем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84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% конфигураций различия статистически значимы на уровне 0,1%;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(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rank-</a:t>
                </a:r>
                <a:r>
                  <a:rPr lang="en-US" sz="18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biseral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) в большинстве случаев умеренный </a:t>
                </a:r>
                <a14:m>
                  <m:oMath xmlns:m="http://schemas.openxmlformats.org/officeDocument/2006/math"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0.3, 0.5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Наибольшее улучшение по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достигнуто для полинома 2-й степени (-47,8% к ядерной регрессии).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blipFill>
                <a:blip r:embed="rId2"/>
                <a:stretch>
                  <a:fillRect l="-427" b="-37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79645" y="6304110"/>
            <a:ext cx="11032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3. Сравнение лучших оценок ядерного и энтропийного подходов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D290710-C6FA-4004-ADF3-EA8F9C4A93EE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79645" y="3165362"/>
            <a:ext cx="11032709" cy="29314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030444" y="0"/>
            <a:ext cx="6405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полиномиальные данные</a:t>
            </a:r>
          </a:p>
        </p:txBody>
      </p:sp>
    </p:spTree>
    <p:extLst>
      <p:ext uri="{BB962C8B-B14F-4D97-AF65-F5344CB8AC3E}">
        <p14:creationId xmlns:p14="http://schemas.microsoft.com/office/powerpoint/2010/main" val="236382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540172" y="0"/>
            <a:ext cx="5111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смесевые данные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 по сравнению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перед эмпирическим правилом наблюдается по всем метрикам, кроме максимальной ошибки.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25101" y="6228721"/>
            <a:ext cx="111367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4. Сравнение методов ядерного сглаживания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 после очистки от выбросов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582F3F2-1895-4183-A0CE-186182ED5A6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5101" y="2449262"/>
            <a:ext cx="11136772" cy="364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66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/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сильное преимущество во всех конфигурациях по всем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Все различия значимы на уровне 0,1% как до, так и после очистки от выбросов;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(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rank-</a:t>
                </a:r>
                <a:r>
                  <a:rPr lang="en-US" sz="18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biseral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) большой во всех случаях </a:t>
                </a:r>
                <a14:m>
                  <m:oMath xmlns:m="http://schemas.openxmlformats.org/officeDocument/2006/math"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a:rPr lang="ru-RU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 очистки достигает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0,86</m:t>
                    </m:r>
                  </m:oMath>
                </a14:m>
                <a:r>
                  <a:rPr lang="ru-RU" dirty="0">
                    <a:cs typeface="Times New Roman" panose="02020603050405020304" pitchFamily="18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0,87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Среднее улучшение по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95,9%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blipFill>
                <a:blip r:embed="rId2"/>
                <a:stretch>
                  <a:fillRect l="-427" b="-37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25097" y="6304110"/>
            <a:ext cx="1130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5. Сравнение лучших оценок ядерного и энтропийного подходов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030444" y="0"/>
            <a:ext cx="50860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смесевые данные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0F1C16-0002-4222-B891-07BAC41C30B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25097" y="3057828"/>
            <a:ext cx="11302725" cy="318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091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387790" y="5444394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ядерные методы показали чуть лучшие значения метрик (разница 3–4%);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524527" y="0"/>
            <a:ext cx="51429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реальные данные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4173D68B-D144-4F2D-AD35-008D4CDE9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678848"/>
                  </p:ext>
                </p:extLst>
              </p:nvPr>
            </p:nvGraphicFramePr>
            <p:xfrm>
              <a:off x="601354" y="1128760"/>
              <a:ext cx="10989292" cy="4125465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𝑹𝑴𝑺</m:t>
                                </m:r>
                                <m:sSub>
                                  <m:sSubPr>
                                    <m:ctrlPr>
                                      <a:rPr lang="ru-RU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𝑴𝑨𝑬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𝑴𝒂𝒙𝑬𝒓𝒓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0.386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0.305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1.040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0.297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0.392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0.304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4173D68B-D144-4F2D-AD35-008D4CDE9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678848"/>
                  </p:ext>
                </p:extLst>
              </p:nvPr>
            </p:nvGraphicFramePr>
            <p:xfrm>
              <a:off x="601354" y="1128760"/>
              <a:ext cx="10989292" cy="4125465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100222" t="-741" r="-200887" b="-4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200222" t="-741" r="-100887" b="-4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300222" t="-741" r="-887" b="-4029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100222" t="-100000" r="-20088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200222" t="-100000" r="-10088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300222" t="-100000" r="-887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100222" t="-201481" r="-200887" b="-2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200222" t="-201481" r="-100887" b="-2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300222" t="-201481" r="-887" b="-2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100222" t="-299265" r="-200887" b="-1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200222" t="-299265" r="-100887" b="-1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300222" t="-299265" r="-887" b="-1007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100222" t="-402222" r="-200887" b="-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200222" t="-402222" r="-100887" b="-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blipFill>
                          <a:blip r:embed="rId2"/>
                          <a:stretch>
                            <a:fillRect l="-300222" t="-402222" r="-887" b="-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DF80D5F-1788-4E2A-B437-D602366824D4}"/>
              </a:ext>
            </a:extLst>
          </p:cNvPr>
          <p:cNvSpPr txBox="1"/>
          <p:nvPr/>
        </p:nvSpPr>
        <p:spPr>
          <a:xfrm>
            <a:off x="2495550" y="617787"/>
            <a:ext cx="7200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Таблица – 1. Результаты оценки качества методов на реальных данных.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3507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3127270" y="0"/>
            <a:ext cx="5937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Ограничения энтропийного метода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19950-4F22-A952-AE41-BFD3A317FB05}"/>
              </a:ext>
            </a:extLst>
          </p:cNvPr>
          <p:cNvSpPr txBox="1"/>
          <p:nvPr/>
        </p:nvSpPr>
        <p:spPr>
          <a:xfrm>
            <a:off x="387790" y="523220"/>
            <a:ext cx="11416420" cy="665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ограничение: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склонность к консервативному выбору моделей (так называемая «перестраховка»)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09E51E8-1CEA-4008-B2F0-BE4B12E5DAE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25743" y="1308501"/>
            <a:ext cx="10340513" cy="49609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ECE366-A848-4291-B57A-665B2B55E3BA}"/>
              </a:ext>
            </a:extLst>
          </p:cNvPr>
          <p:cNvSpPr txBox="1"/>
          <p:nvPr/>
        </p:nvSpPr>
        <p:spPr>
          <a:xfrm>
            <a:off x="1517442" y="6334780"/>
            <a:ext cx="9157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6. Систематическое смещение подбора степени полинома в энтропийном подходе.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77467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3204375" y="130629"/>
            <a:ext cx="57832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Положения выносимые на защиту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119950-4F22-A952-AE41-BFD3A317FB05}"/>
                  </a:ext>
                </a:extLst>
              </p:cNvPr>
              <p:cNvSpPr txBox="1"/>
              <p:nvPr/>
            </p:nvSpPr>
            <p:spPr>
              <a:xfrm>
                <a:off x="387790" y="796353"/>
                <a:ext cx="11416420" cy="5513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«мягкой» энтропийной рандомизации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обеспечивает робастные оценки регрессии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малых выборках (n ≤ 30) без априорных предположений о распределении ошибок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синтетических данных метод статистически значимо превосходит ядерную регрессию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уровне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значимости </a:t>
                </a:r>
                <a14:m>
                  <m:oMath xmlns:m="http://schemas.openxmlformats.org/officeDocument/2006/math">
                    <m:r>
                      <a:rPr lang="ru-RU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большинстве конфигураций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реальных данных метод </a:t>
                </a:r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показывает сопоставимую точность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 непараметрическими аналогами, подтверждая практическую применимость;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Наибольшая эффективность метода достигается при аппроксимации зависимостей </a:t>
                </a:r>
                <a:r>
                  <a:rPr lang="ru-RU" b="1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низкой сложности в условиях низкого и среднего уровня шума.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119950-4F22-A952-AE41-BFD3A317F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796353"/>
                <a:ext cx="11416420" cy="5513304"/>
              </a:xfrm>
              <a:prstGeom prst="rect">
                <a:avLst/>
              </a:prstGeom>
              <a:blipFill>
                <a:blip r:embed="rId2"/>
                <a:stretch>
                  <a:fillRect l="-374" r="-481" b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014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4094490" y="0"/>
            <a:ext cx="40030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Перспективы развития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19950-4F22-A952-AE41-BFD3A317FB05}"/>
              </a:ext>
            </a:extLst>
          </p:cNvPr>
          <p:cNvSpPr txBox="1"/>
          <p:nvPr/>
        </p:nvSpPr>
        <p:spPr>
          <a:xfrm>
            <a:off x="387790" y="523220"/>
            <a:ext cx="11416420" cy="343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Возможные направления: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гибридного подхода</a:t>
            </a: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объединяющего ядерный и энтропийный методы для сохранения устойчивости и гибкости аппроксимации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Развитие вычислительных методов, связанных с семплированием по методу Монте-Карло, для работы с данными большой размерности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045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67235-B120-5DC2-02D3-EDE466B4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CD6835F-F652-25A6-F645-229017968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12F587-5BFE-2158-1B6E-84D728510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BE410B-DACE-F062-AFA8-296F905A2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2729" y="1289303"/>
            <a:ext cx="9638443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dirty="0"/>
              <a:t>Спасибо за внимание</a:t>
            </a:r>
            <a:endParaRPr lang="en-US" sz="3200" kern="1200" cap="all" spc="200" baseline="0" dirty="0">
              <a:solidFill>
                <a:srgbClr val="262626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82713940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Посылка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Посылка</Template>
  <TotalTime>1320</TotalTime>
  <Words>1152</Words>
  <Application>Microsoft Office PowerPoint</Application>
  <PresentationFormat>Широкоэкранный</PresentationFormat>
  <Paragraphs>144</Paragraphs>
  <Slides>19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Aptos</vt:lpstr>
      <vt:lpstr>Arial</vt:lpstr>
      <vt:lpstr>Cambria Math</vt:lpstr>
      <vt:lpstr>Corbel</vt:lpstr>
      <vt:lpstr>Gill Sans MT</vt:lpstr>
      <vt:lpstr>Times New Roman</vt:lpstr>
      <vt:lpstr>Посылка</vt:lpstr>
      <vt:lpstr>Оценивание регрессии: сравнение непараметрического и информационного подходов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энтропийныЙ ПОДХОД ДЛЯ робастноГО ОцениваниЯЕ регрессионных зависимостей энтропийным методом с УЧЕТОМ  на малых выборках с ненормальными ошибками</dc:title>
  <dc:creator>Анфимов Александр Дмитриевич</dc:creator>
  <cp:lastModifiedBy>Александр Анфимов</cp:lastModifiedBy>
  <cp:revision>63</cp:revision>
  <dcterms:created xsi:type="dcterms:W3CDTF">2024-12-16T13:09:05Z</dcterms:created>
  <dcterms:modified xsi:type="dcterms:W3CDTF">2026-05-21T09:59:36Z</dcterms:modified>
</cp:coreProperties>
</file>