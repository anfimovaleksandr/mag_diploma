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3"/>
  </p:notesMasterIdLst>
  <p:sldIdLst>
    <p:sldId id="256" r:id="rId2"/>
    <p:sldId id="257" r:id="rId3"/>
    <p:sldId id="269" r:id="rId4"/>
    <p:sldId id="278" r:id="rId5"/>
    <p:sldId id="279" r:id="rId6"/>
    <p:sldId id="271" r:id="rId7"/>
    <p:sldId id="274" r:id="rId8"/>
    <p:sldId id="272" r:id="rId9"/>
    <p:sldId id="285" r:id="rId10"/>
    <p:sldId id="277" r:id="rId11"/>
    <p:sldId id="281" r:id="rId12"/>
    <p:sldId id="273" r:id="rId13"/>
    <p:sldId id="282" r:id="rId14"/>
    <p:sldId id="283" r:id="rId15"/>
    <p:sldId id="284" r:id="rId16"/>
    <p:sldId id="286" r:id="rId17"/>
    <p:sldId id="275" r:id="rId18"/>
    <p:sldId id="287" r:id="rId19"/>
    <p:sldId id="267" r:id="rId20"/>
    <p:sldId id="276" r:id="rId21"/>
    <p:sldId id="288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626634-CE2F-4DD7-8FF3-A2AF8CEFAA4F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371D2-86CC-402C-A2D2-EB78B92529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8303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6371D2-86CC-402C-A2D2-EB78B925299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4304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17709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865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04641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0431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70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5749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552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1462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57856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2159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6635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532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37/1109020" TargetMode="External"/><Relationship Id="rId2" Type="http://schemas.openxmlformats.org/officeDocument/2006/relationships/hyperlink" Target="https://doi.org/10.1214/aoms/1177704472" TargetMode="Externa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02/047172842X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4167985-D6E9-40FF-97C0-4B6D373E8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68" y="640080"/>
            <a:ext cx="10911865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801362-349C-44BE-BEF6-8E926E1D3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A77998-A4CF-F063-FCB7-A98A86FF3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1289303"/>
            <a:ext cx="10579607" cy="3339303"/>
          </a:xfrm>
          <a:ln>
            <a:noFill/>
          </a:ln>
        </p:spPr>
        <p:txBody>
          <a:bodyPr vert="horz" lIns="274320" tIns="182880" rIns="274320" bIns="182880" rtlCol="0" anchor="ctr" anchorCtr="1">
            <a:noAutofit/>
          </a:bodyPr>
          <a:lstStyle/>
          <a:p>
            <a:r>
              <a:rPr lang="ru-RU" sz="3200" kern="1200" cap="all" spc="200" baseline="0" dirty="0">
                <a:solidFill>
                  <a:srgbClr val="2626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Оценивание регрессии: сравнение непараметрического и информационного подходов</a:t>
            </a:r>
            <a:endParaRPr lang="en-US" sz="3200" kern="1200" cap="all" spc="200" baseline="0" dirty="0">
              <a:solidFill>
                <a:srgbClr val="26262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4EE8E8-5C77-BF5F-64B3-35A305B88EF9}"/>
              </a:ext>
            </a:extLst>
          </p:cNvPr>
          <p:cNvSpPr txBox="1"/>
          <p:nvPr/>
        </p:nvSpPr>
        <p:spPr>
          <a:xfrm>
            <a:off x="539516" y="5431536"/>
            <a:ext cx="70820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Анфимов А. Д.</a:t>
            </a:r>
          </a:p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Булычёв А. В.</a:t>
            </a:r>
          </a:p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Направление: «Системный анализ и управление в больших системах»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Дата: 23.05.2026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3736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06EC55-C903-76F6-3778-39E511D2B31D}"/>
              </a:ext>
            </a:extLst>
          </p:cNvPr>
          <p:cNvSpPr txBox="1"/>
          <p:nvPr/>
        </p:nvSpPr>
        <p:spPr>
          <a:xfrm>
            <a:off x="3895750" y="0"/>
            <a:ext cx="4400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и актуальность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769B2-799A-2018-0427-DE5F4DA226CC}"/>
              </a:ext>
            </a:extLst>
          </p:cNvPr>
          <p:cNvSpPr txBox="1"/>
          <p:nvPr/>
        </p:nvSpPr>
        <p:spPr>
          <a:xfrm>
            <a:off x="387790" y="523220"/>
            <a:ext cx="11416420" cy="48208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построения регрессионных моделей: 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Классический МНК требует выполнения стандартных условий (нормальность ошибок, достаточный для точности объём выборки)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Непараметрические методы (ядерная регрессия) не эффективны при малом количестве точек</a:t>
            </a:r>
          </a:p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Научная новизна: 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модифицированного энтропийного метода с «мягкой» рандомизацией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 оценке регрессии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с ядерной регрессией на синтетических данных с различными распределениями ошибок</a:t>
            </a:r>
          </a:p>
        </p:txBody>
      </p:sp>
    </p:spTree>
    <p:extLst>
      <p:ext uri="{BB962C8B-B14F-4D97-AF65-F5344CB8AC3E}">
        <p14:creationId xmlns:p14="http://schemas.microsoft.com/office/powerpoint/2010/main" val="2029585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0761D-8F29-C587-E7E2-A5E1232C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704444-3DDA-9E0C-80F3-B04881397336}"/>
              </a:ext>
            </a:extLst>
          </p:cNvPr>
          <p:cNvSpPr txBox="1"/>
          <p:nvPr/>
        </p:nvSpPr>
        <p:spPr>
          <a:xfrm>
            <a:off x="3895750" y="0"/>
            <a:ext cx="4781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исследования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D1A848-C0CA-FEEC-A160-E16E2D8D9878}"/>
              </a:ext>
            </a:extLst>
          </p:cNvPr>
          <p:cNvSpPr txBox="1"/>
          <p:nvPr/>
        </p:nvSpPr>
        <p:spPr>
          <a:xfrm>
            <a:off x="578194" y="523220"/>
            <a:ext cx="11416420" cy="412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</a:p>
          <a:p>
            <a:pPr>
              <a:lnSpc>
                <a:spcPct val="2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Построение робастных оценок регрессии на малых выборках без предположений о виде распределения ошибок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  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энтропийный метод оценивания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Сравнить с ядерной регрессией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Оценить чувствительность решения к различным уровням шума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78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A7F7-59A6-4C32-9FB4-373DFE454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8B456-C065-EBF3-B7B7-9D07C5DA29C2}"/>
              </a:ext>
            </a:extLst>
          </p:cNvPr>
          <p:cNvSpPr txBox="1"/>
          <p:nvPr/>
        </p:nvSpPr>
        <p:spPr>
          <a:xfrm>
            <a:off x="3752217" y="0"/>
            <a:ext cx="46875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Непараметрический подход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/>
              <p:nvPr/>
            </p:nvSpPr>
            <p:spPr>
              <a:xfrm>
                <a:off x="525100" y="599122"/>
                <a:ext cx="11416420" cy="52798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классического ядерного сглаживания: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каждой точке вычисляется сглаженная оценка функции плотности с помощью весов, определяемых ядром и полосой пропускания (окном) по формуле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Розенблата-Парзена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2, 3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acc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𝑛h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den>
                              </m:f>
                            </m:e>
                          </m:d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элементы выборки,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ядерная функция, </a:t>
                </a:r>
                <a14:m>
                  <m:oMath xmlns:m="http://schemas.openxmlformats.org/officeDocument/2006/math">
                    <m:r>
                      <a:rPr lang="ru-RU" sz="1800" b="0" i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полоса пропускания (окно сглаживания).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В задаче регрессии оценка плотности используется для вычисления ядерных весов:</a:t>
                </a:r>
                <a:endParaRPr lang="en-US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𝑛𝑖</m:t>
                          </m:r>
                        </m:sub>
                      </m:sSub>
                      <m:d>
                        <m:d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acc>
                            <m:accPr>
                              <m:chr m:val="̂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ru-RU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h</m:t>
                            </m:r>
                          </m:den>
                        </m:f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ширина окна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зависит от объёма выборки.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Данная весовая схема применяется для оценки условного математического ожидания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d>
                      <m:dPr>
                        <m:ctrlPr>
                          <a:rPr lang="ru-RU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e>
                        <m:r>
                          <a:rPr lang="ru-RU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 формуле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Надарая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-Ватсона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[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4, 5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00" y="599122"/>
                <a:ext cx="11416420" cy="5279843"/>
              </a:xfrm>
              <a:prstGeom prst="rect">
                <a:avLst/>
              </a:prstGeom>
              <a:blipFill>
                <a:blip r:embed="rId2"/>
                <a:stretch>
                  <a:fillRect l="-427" r="-9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DABECC-B604-46B6-B164-CCE20BAE3B3F}"/>
                  </a:ext>
                </a:extLst>
              </p:cNvPr>
              <p:cNvSpPr txBox="1"/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40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4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DABECC-B604-46B6-B164-CCE20BAE3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7042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A7F7-59A6-4C32-9FB4-373DFE454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8B456-C065-EBF3-B7B7-9D07C5DA29C2}"/>
              </a:ext>
            </a:extLst>
          </p:cNvPr>
          <p:cNvSpPr txBox="1"/>
          <p:nvPr/>
        </p:nvSpPr>
        <p:spPr>
          <a:xfrm>
            <a:off x="3752217" y="0"/>
            <a:ext cx="46875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Непараметрический подход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/>
              <p:nvPr/>
            </p:nvSpPr>
            <p:spPr>
              <a:xfrm>
                <a:off x="525100" y="599122"/>
                <a:ext cx="11416420" cy="44399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Выбор ширины окна: 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работе используются три подхода:</a:t>
                </a:r>
              </a:p>
              <a:p>
                <a:pPr marL="342900" indent="-342900">
                  <a:lnSpc>
                    <a:spcPct val="200000"/>
                  </a:lnSpc>
                  <a:buFont typeface="+mj-lt"/>
                  <a:buAutoNum type="arabicPeriod"/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Правило </a:t>
                </a:r>
                <a:r>
                  <a:rPr lang="ru-RU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Сильвермана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эмпирическое правило, не зависит от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</m:oMath>
                </a14:m>
                <a:r>
                  <a:rPr lang="ru-RU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Используется как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baseline;</a:t>
                </a:r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+mj-lt"/>
                  <a:buAutoNum type="arabicPeriod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5-fold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кросс-валидация</a:t>
                </a: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делит выборку на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частей, минимизирует усреднённую по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фолдам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MSE;</a:t>
                </a:r>
              </a:p>
              <a:p>
                <a:pPr marL="342900" indent="-342900">
                  <a:lnSpc>
                    <a:spcPct val="200000"/>
                  </a:lnSpc>
                  <a:buFont typeface="+mj-lt"/>
                  <a:buAutoNum type="arabicPeriod"/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LOOCV (</a:t>
                </a:r>
                <a:r>
                  <a:rPr lang="ru-RU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leave-one-out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последовательно оставляет по одной точке для тестирования, обучается на остальных и усредняет ошибку по всем итерациям.</a:t>
                </a:r>
              </a:p>
              <a:p>
                <a:pPr>
                  <a:lnSpc>
                    <a:spcPct val="200000"/>
                  </a:lnSpc>
                </a:pP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Ключевое ограничение: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нестабильность на малых выборках.</a:t>
                </a: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00" y="599122"/>
                <a:ext cx="11416420" cy="4439933"/>
              </a:xfrm>
              <a:prstGeom prst="rect">
                <a:avLst/>
              </a:prstGeom>
              <a:blipFill>
                <a:blip r:embed="rId2"/>
                <a:stretch>
                  <a:fillRect l="-427" b="-12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25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A7F7-59A6-4C32-9FB4-373DFE454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8B456-C065-EBF3-B7B7-9D07C5DA29C2}"/>
              </a:ext>
            </a:extLst>
          </p:cNvPr>
          <p:cNvSpPr txBox="1"/>
          <p:nvPr/>
        </p:nvSpPr>
        <p:spPr>
          <a:xfrm>
            <a:off x="4259343" y="0"/>
            <a:ext cx="3673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Энтропийный подход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/>
              <p:nvPr/>
            </p:nvSpPr>
            <p:spPr>
              <a:xfrm>
                <a:off x="525100" y="599122"/>
                <a:ext cx="11416420" cy="5659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классического энтропийного метода</a:t>
                </a: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[2]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оцениваемая зависимость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представляет собой модель с параметрами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i="1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количество параметров, т. е.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Параметры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ошибки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предполагаются непрерывными случайными величинами, которые определены на некоторых интервалах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Целью является восстановление по данным оптимальных функций плотности распределения (ФПР) случайных величин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путем максимизации функционала информационной энтропии: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=−</m:t>
                          </m:r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𝑑𝑎</m:t>
                              </m:r>
                            </m:e>
                          </m:nary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nary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→</m:t>
                          </m:r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func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00" y="599122"/>
                <a:ext cx="11416420" cy="5659755"/>
              </a:xfrm>
              <a:prstGeom prst="rect">
                <a:avLst/>
              </a:prstGeom>
              <a:blipFill>
                <a:blip r:embed="rId2"/>
                <a:stretch>
                  <a:fillRect l="-4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9597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D9ED9-9111-2160-EE0E-3ACEFF149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DEE030-DBF6-ADB8-A0E2-3FA09E29B6D9}"/>
              </a:ext>
            </a:extLst>
          </p:cNvPr>
          <p:cNvSpPr txBox="1"/>
          <p:nvPr/>
        </p:nvSpPr>
        <p:spPr>
          <a:xfrm>
            <a:off x="4209650" y="0"/>
            <a:ext cx="3772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Энтропийный подход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7D71E8-C046-2B30-E902-BE71C9AB1A4A}"/>
                  </a:ext>
                </a:extLst>
              </p:cNvPr>
              <p:cNvSpPr txBox="1"/>
              <p:nvPr/>
            </p:nvSpPr>
            <p:spPr>
              <a:xfrm>
                <a:off x="457199" y="688064"/>
                <a:ext cx="11552222" cy="58026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«мягкого» энтропийного метода: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Используется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гельдерова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норма разности невязки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[3]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 Задача сводится к максимизации функционала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ru-RU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объединяющего энтропию, «эмпирический риск» [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 и среднюю норму ошибок, при условиях нормировки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учета ограничений вводится функционал Лагранжа, а условия оптимальности через производные Гато. Решение задачи в общем виде имеет вид: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𝑑𝑎</m:t>
                                  </m:r>
                                </m:e>
                              </m:nary>
                            </m:den>
                          </m:f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nary>
                            </m:den>
                          </m:f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В качестве нормы в данном исследовании берется комбинация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7D71E8-C046-2B30-E902-BE71C9AB1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" y="688064"/>
                <a:ext cx="11552222" cy="5802679"/>
              </a:xfrm>
              <a:prstGeom prst="rect">
                <a:avLst/>
              </a:prstGeom>
              <a:blipFill>
                <a:blip r:embed="rId2"/>
                <a:stretch>
                  <a:fillRect l="-422" r="-8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449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F301-507D-2287-D63E-51DCF9134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AAFDB0-D9B3-1ED6-2B5C-222E641BBD8E}"/>
              </a:ext>
            </a:extLst>
          </p:cNvPr>
          <p:cNvSpPr txBox="1"/>
          <p:nvPr/>
        </p:nvSpPr>
        <p:spPr>
          <a:xfrm>
            <a:off x="4235426" y="0"/>
            <a:ext cx="3721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эксперимента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6409C70B-EC06-CA28-3455-4AE195FFE9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0430563"/>
                  </p:ext>
                </p:extLst>
              </p:nvPr>
            </p:nvGraphicFramePr>
            <p:xfrm>
              <a:off x="597528" y="719666"/>
              <a:ext cx="11362100" cy="4409948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Полиномы 1-6 степени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Двумерная смесь нормальных распределений (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𝐸</m:t>
                              </m:r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r>
                                <a:rPr lang="en-US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CV, LOOCV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 подбора степени полинома и параметров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[5]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6409C70B-EC06-CA28-3455-4AE195FFE9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0430563"/>
                  </p:ext>
                </p:extLst>
              </p:nvPr>
            </p:nvGraphicFramePr>
            <p:xfrm>
              <a:off x="597528" y="719666"/>
              <a:ext cx="11362100" cy="4409948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453644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86512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00215" t="-105634" r="-536" b="-3161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CV, LOOCV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215" t="-595946" r="-100536" b="-3054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[5]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127660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3F38E1B3-473B-4B37-935D-0271D5F395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6950265"/>
              </p:ext>
            </p:extLst>
          </p:nvPr>
        </p:nvGraphicFramePr>
        <p:xfrm>
          <a:off x="597528" y="5129088"/>
          <a:ext cx="11362100" cy="136093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681050">
                  <a:extLst>
                    <a:ext uri="{9D8B030D-6E8A-4147-A177-3AD203B41FA5}">
                      <a16:colId xmlns:a16="http://schemas.microsoft.com/office/drawing/2014/main" val="189054888"/>
                    </a:ext>
                  </a:extLst>
                </a:gridCol>
                <a:gridCol w="5681050">
                  <a:extLst>
                    <a:ext uri="{9D8B030D-6E8A-4147-A177-3AD203B41FA5}">
                      <a16:colId xmlns:a16="http://schemas.microsoft.com/office/drawing/2014/main" val="152570530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Генерация ошибок для полиномов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4559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Распределения ошибок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Лапласа,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Гумбеля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Тьюки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 др. (30 типов)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921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Уровни шума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(коэффициент детерминации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R)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0.95 (низкий), 0.9 (средний), 0.8 (высокий)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421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9556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F301-507D-2287-D63E-51DCF9134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AAFDB0-D9B3-1ED6-2B5C-222E641BBD8E}"/>
              </a:ext>
            </a:extLst>
          </p:cNvPr>
          <p:cNvSpPr txBox="1"/>
          <p:nvPr/>
        </p:nvSpPr>
        <p:spPr>
          <a:xfrm>
            <a:off x="4235426" y="0"/>
            <a:ext cx="3721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эксперимента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C7F687-33BE-4198-BCAC-5FD35E2891A2}"/>
              </a:ext>
            </a:extLst>
          </p:cNvPr>
          <p:cNvSpPr txBox="1"/>
          <p:nvPr/>
        </p:nvSpPr>
        <p:spPr>
          <a:xfrm>
            <a:off x="366897" y="523220"/>
            <a:ext cx="11458204" cy="561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Для проверки на реальных данных использовался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 извержениям гейзера Старый служака.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57BC006-086D-47FD-B0B0-446DD214C5A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813424" y="1201148"/>
            <a:ext cx="8043096" cy="47899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A78459-8DF8-491A-BC9A-B12458B4E0B9}"/>
              </a:ext>
            </a:extLst>
          </p:cNvPr>
          <p:cNvSpPr txBox="1"/>
          <p:nvPr/>
        </p:nvSpPr>
        <p:spPr>
          <a:xfrm>
            <a:off x="150172" y="6011614"/>
            <a:ext cx="118916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Рис. 1. Зависимость между продолжительностью извержения и временем ожидания, Гейзер "Старый Служака" (Озеро Йеллоустон).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4019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95A710-51E0-CE7A-E81F-72C3AEBEF811}"/>
              </a:ext>
            </a:extLst>
          </p:cNvPr>
          <p:cNvSpPr txBox="1"/>
          <p:nvPr/>
        </p:nvSpPr>
        <p:spPr>
          <a:xfrm>
            <a:off x="3485827" y="0"/>
            <a:ext cx="54949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Методология сравнения методов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525101" y="932507"/>
            <a:ext cx="11416420" cy="3331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статистические подходы: 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 ядерных методов друг с другом использовался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Фридмана с поправкой </a:t>
            </a:r>
            <a:r>
              <a:rPr lang="ru-RU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Бонферрони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</a:t>
            </a:r>
            <a:r>
              <a:rPr lang="en-US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энтропийного подхода с непараметрическими использовался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</a:t>
            </a:r>
            <a:r>
              <a:rPr lang="ru-RU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Уилкоксона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 поправкой Холма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проверки устойчивости </a:t>
            </a:r>
            <a:r>
              <a:rPr lang="ru-RU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дополнительно сравнивались на наборе </a:t>
            </a:r>
            <a:r>
              <a:rPr lang="ru-RU" dirty="0" err="1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датасетов</a:t>
            </a:r>
            <a:r>
              <a:rPr lang="ru-RU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очищенном от выбросов по методу </a:t>
            </a:r>
            <a:r>
              <a:rPr lang="ru-RU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1,5 </a:t>
            </a:r>
            <a:r>
              <a:rPr lang="en-US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IQR</a:t>
            </a:r>
            <a:r>
              <a:rPr lang="ru-RU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i="0" dirty="0">
              <a:solidFill>
                <a:srgbClr val="1D1D1F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63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95A710-51E0-CE7A-E81F-72C3AEBEF811}"/>
              </a:ext>
            </a:extLst>
          </p:cNvPr>
          <p:cNvSpPr txBox="1"/>
          <p:nvPr/>
        </p:nvSpPr>
        <p:spPr>
          <a:xfrm>
            <a:off x="3030444" y="0"/>
            <a:ext cx="6405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полиномиальные данные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525101" y="932507"/>
            <a:ext cx="11416420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наблюдения по сравнению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перед эмпирическим наблюдается только для низкого шума и высоких степеней.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262549" y="6228721"/>
            <a:ext cx="11929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2. Сравнение методов ядерного сглаживания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 после очистки от выбросов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60FE115-C1AE-4C5C-90FF-073C589792C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25239" y="2455545"/>
            <a:ext cx="11941521" cy="37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486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/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наблюдения: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эффективность во всех конфигурациях по всем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 96% конфигураций различия статистически значимы на уровне 0,1%;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(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rank-</a:t>
                </a:r>
                <a:r>
                  <a:rPr lang="en-US" sz="1800" dirty="0" err="1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biseral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) в большинстве случаев умеренный </a:t>
                </a:r>
                <a14:m>
                  <m:oMath xmlns:m="http://schemas.openxmlformats.org/officeDocument/2006/math">
                    <m:r>
                      <a:rPr lang="ru-RU" sz="18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ru-RU" sz="18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0.3, 0.5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Наибольшее улучшение по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достигнуто для полинома 2-й степени (-47,8% к ядерной регрессии).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blipFill>
                <a:blip r:embed="rId2"/>
                <a:stretch>
                  <a:fillRect l="-427" b="-37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579645" y="6304110"/>
            <a:ext cx="110327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3. Сравнение лучших оценок ядерного и энтропийного подходов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D290710-C6FA-4004-ADF3-EA8F9C4A93EE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79645" y="3165362"/>
            <a:ext cx="11032709" cy="29314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28353B-CDBF-4943-B93E-8C7A426BB39D}"/>
              </a:ext>
            </a:extLst>
          </p:cNvPr>
          <p:cNvSpPr txBox="1"/>
          <p:nvPr/>
        </p:nvSpPr>
        <p:spPr>
          <a:xfrm>
            <a:off x="3030444" y="0"/>
            <a:ext cx="6405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полиномиальные данные</a:t>
            </a:r>
          </a:p>
        </p:txBody>
      </p:sp>
    </p:spTree>
    <p:extLst>
      <p:ext uri="{BB962C8B-B14F-4D97-AF65-F5344CB8AC3E}">
        <p14:creationId xmlns:p14="http://schemas.microsoft.com/office/powerpoint/2010/main" val="236382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95A710-51E0-CE7A-E81F-72C3AEBEF811}"/>
              </a:ext>
            </a:extLst>
          </p:cNvPr>
          <p:cNvSpPr txBox="1"/>
          <p:nvPr/>
        </p:nvSpPr>
        <p:spPr>
          <a:xfrm>
            <a:off x="3540172" y="0"/>
            <a:ext cx="5111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смесевые данные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525101" y="932507"/>
            <a:ext cx="11416420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наблюдения по сравнению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перед эмпирическим правилом наблюдается по всем метрикам, кроме максимальной ошибки.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525101" y="6228721"/>
            <a:ext cx="111367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4. Сравнение методов ядерного сглаживания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 после очистки от выбросов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582F3F2-1895-4183-A0CE-186182ED5A6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25101" y="2449262"/>
            <a:ext cx="11136772" cy="364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66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/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наблюдения: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сильное преимущество во всех конфигурациях по всем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Все различия значимы на уровне 0,1% как до, так и после очистки от выбросов;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(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rank-</a:t>
                </a:r>
                <a:r>
                  <a:rPr lang="en-US" sz="1800" dirty="0" err="1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biseral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) большой во всех случаях </a:t>
                </a:r>
                <a14:m>
                  <m:oMath xmlns:m="http://schemas.openxmlformats.org/officeDocument/2006/math">
                    <m:r>
                      <a:rPr lang="ru-RU" sz="18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&gt;0</m:t>
                    </m:r>
                    <m:r>
                      <a:rPr lang="ru-RU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После очистки достигает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0,86</m:t>
                    </m:r>
                  </m:oMath>
                </a14:m>
                <a:r>
                  <a:rPr lang="ru-RU" dirty="0">
                    <a:cs typeface="Times New Roman" panose="02020603050405020304" pitchFamily="18" charset="0"/>
                  </a:rPr>
                  <a:t>-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0,87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Среднее улучшение по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95,9%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blipFill>
                <a:blip r:embed="rId2"/>
                <a:stretch>
                  <a:fillRect l="-427" b="-37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525097" y="6304110"/>
            <a:ext cx="1130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5. Сравнение лучших оценок ядерного и энтропийного подходов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28353B-CDBF-4943-B93E-8C7A426BB39D}"/>
              </a:ext>
            </a:extLst>
          </p:cNvPr>
          <p:cNvSpPr txBox="1"/>
          <p:nvPr/>
        </p:nvSpPr>
        <p:spPr>
          <a:xfrm>
            <a:off x="3030444" y="0"/>
            <a:ext cx="50860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смесевые данные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0F1C16-0002-4222-B891-07BAC41C30B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25097" y="3057828"/>
            <a:ext cx="11302725" cy="318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091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387790" y="5444394"/>
            <a:ext cx="11416420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наблюдения: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ядерные методы показали чуть лучшие значения метрик (разница 3–4%);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28353B-CDBF-4943-B93E-8C7A426BB39D}"/>
              </a:ext>
            </a:extLst>
          </p:cNvPr>
          <p:cNvSpPr txBox="1"/>
          <p:nvPr/>
        </p:nvSpPr>
        <p:spPr>
          <a:xfrm>
            <a:off x="3524527" y="0"/>
            <a:ext cx="51429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реальные данные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Таблица 3">
                <a:extLst>
                  <a:ext uri="{FF2B5EF4-FFF2-40B4-BE49-F238E27FC236}">
                    <a16:creationId xmlns:a16="http://schemas.microsoft.com/office/drawing/2014/main" id="{4173D68B-D144-4F2D-AD35-008D4CDE9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333928"/>
                  </p:ext>
                </p:extLst>
              </p:nvPr>
            </p:nvGraphicFramePr>
            <p:xfrm>
              <a:off x="601354" y="1128760"/>
              <a:ext cx="10989292" cy="4125465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Method</a:t>
                          </a:r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𝑹𝑴𝑺</m:t>
                                </m:r>
                                <m:sSub>
                                  <m:sSubPr>
                                    <m:ctrlPr>
                                      <a:rPr lang="ru-RU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𝑴𝑨𝑬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𝑴𝒂𝒙𝑬𝒓𝒓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Сильвермана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0.385714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0.305371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1.040429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0.377969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0.296663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1.087792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0.377177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0.296323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1.088225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0.391797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0.304396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1.079564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Таблица 3">
                <a:extLst>
                  <a:ext uri="{FF2B5EF4-FFF2-40B4-BE49-F238E27FC236}">
                    <a16:creationId xmlns:a16="http://schemas.microsoft.com/office/drawing/2014/main" id="{4173D68B-D144-4F2D-AD35-008D4CDE9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333928"/>
                  </p:ext>
                </p:extLst>
              </p:nvPr>
            </p:nvGraphicFramePr>
            <p:xfrm>
              <a:off x="601354" y="1128760"/>
              <a:ext cx="10989292" cy="4125465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Method</a:t>
                          </a:r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00222" t="-741" r="-200887" b="-4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200222" t="-741" r="-100887" b="-4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300222" t="-741" r="-887" b="-4029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Сильвермана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0.385714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0.305371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1.040429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0.377969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0.296663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1.087792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0.377177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0.296323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1.088225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0.391797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0.304396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1.079564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EDF80D5F-1788-4E2A-B437-D602366824D4}"/>
              </a:ext>
            </a:extLst>
          </p:cNvPr>
          <p:cNvSpPr txBox="1"/>
          <p:nvPr/>
        </p:nvSpPr>
        <p:spPr>
          <a:xfrm>
            <a:off x="2495550" y="617787"/>
            <a:ext cx="7200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Таблица – 1. Результаты оценки качества методов на реальных данных.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35071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17CF9-11BB-8E92-9837-8CEB2324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52EBD2-34A3-7824-147E-0C9CB9A9B380}"/>
              </a:ext>
            </a:extLst>
          </p:cNvPr>
          <p:cNvSpPr txBox="1"/>
          <p:nvPr/>
        </p:nvSpPr>
        <p:spPr>
          <a:xfrm>
            <a:off x="3127270" y="0"/>
            <a:ext cx="5937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Ограничения энтропийного метода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119950-4F22-A952-AE41-BFD3A317FB05}"/>
              </a:ext>
            </a:extLst>
          </p:cNvPr>
          <p:cNvSpPr txBox="1"/>
          <p:nvPr/>
        </p:nvSpPr>
        <p:spPr>
          <a:xfrm>
            <a:off x="387790" y="523220"/>
            <a:ext cx="11416420" cy="665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Основное ограничение: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склонность к консервативному выбору моделей (так называемая «перестраховка»)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09E51E8-1CEA-4008-B2F0-BE4B12E5DAE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25743" y="1308501"/>
            <a:ext cx="10340513" cy="49609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3ECE366-A848-4291-B57A-665B2B55E3BA}"/>
              </a:ext>
            </a:extLst>
          </p:cNvPr>
          <p:cNvSpPr txBox="1"/>
          <p:nvPr/>
        </p:nvSpPr>
        <p:spPr>
          <a:xfrm>
            <a:off x="1517442" y="6334780"/>
            <a:ext cx="9157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6. Систематическое смещение подбора степени полинома в энтропийном подходе.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774674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17CF9-11BB-8E92-9837-8CEB2324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52EBD2-34A3-7824-147E-0C9CB9A9B380}"/>
              </a:ext>
            </a:extLst>
          </p:cNvPr>
          <p:cNvSpPr txBox="1"/>
          <p:nvPr/>
        </p:nvSpPr>
        <p:spPr>
          <a:xfrm>
            <a:off x="5018237" y="0"/>
            <a:ext cx="2155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119950-4F22-A952-AE41-BFD3A317FB05}"/>
                  </a:ext>
                </a:extLst>
              </p:cNvPr>
              <p:cNvSpPr txBox="1"/>
              <p:nvPr/>
            </p:nvSpPr>
            <p:spPr>
              <a:xfrm>
                <a:off x="387790" y="523220"/>
                <a:ext cx="11416420" cy="49071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Выводы:</a:t>
                </a:r>
              </a:p>
              <a:p>
                <a:pPr marL="285750" indent="-285750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с «мягкой» рандомизацией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эффективен на малых выборках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робастен к распределению ошибок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синтетических данных метод статистически значимо превосходит ядерную регрессию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уровне</a:t>
                </a: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значимости </a:t>
                </a:r>
                <a14:m>
                  <m:oMath xmlns:m="http://schemas.openxmlformats.org/officeDocument/2006/math">
                    <m:r>
                      <a:rPr lang="ru-RU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ru-RU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ru-RU" b="1" i="1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подавляющем большинстве конфигураций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реальных данных метод конкурентоспособен, уступая лишь на 3–4% в задачах с большой выборкой;</a:t>
                </a:r>
              </a:p>
              <a:p>
                <a:pPr marL="285750" indent="-285750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Наибольший выигрыш для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низкого уровня шума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𝟗𝟓</m:t>
                        </m:r>
                      </m:e>
                    </m:d>
                  </m:oMath>
                </a14:m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полиномов низкой степени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2-3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119950-4F22-A952-AE41-BFD3A317F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90" y="523220"/>
                <a:ext cx="11416420" cy="4907113"/>
              </a:xfrm>
              <a:prstGeom prst="rect">
                <a:avLst/>
              </a:prstGeom>
              <a:blipFill>
                <a:blip r:embed="rId2"/>
                <a:stretch>
                  <a:fillRect l="-481" b="-6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1014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17CF9-11BB-8E92-9837-8CEB2324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52EBD2-34A3-7824-147E-0C9CB9A9B380}"/>
              </a:ext>
            </a:extLst>
          </p:cNvPr>
          <p:cNvSpPr txBox="1"/>
          <p:nvPr/>
        </p:nvSpPr>
        <p:spPr>
          <a:xfrm>
            <a:off x="4094490" y="0"/>
            <a:ext cx="40030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Перспективы развития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119950-4F22-A952-AE41-BFD3A317FB05}"/>
              </a:ext>
            </a:extLst>
          </p:cNvPr>
          <p:cNvSpPr txBox="1"/>
          <p:nvPr/>
        </p:nvSpPr>
        <p:spPr>
          <a:xfrm>
            <a:off x="387790" y="523220"/>
            <a:ext cx="11416420" cy="3441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Возможные направления: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гибридного подхода</a:t>
            </a:r>
            <a:r>
              <a:rPr lang="ru-RU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сочетающего устойчивость энтропийного метода и гибкость ядерного сглаживания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Оптимизация вычислительной сложности для работы с многомерными данными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Расширение класса </a:t>
            </a:r>
            <a:r>
              <a:rPr lang="ru-RU" b="0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параметризаций</a:t>
            </a:r>
            <a:r>
              <a:rPr lang="ru-RU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(сплайны, базисные функции)</a:t>
            </a:r>
            <a:r>
              <a:rPr lang="ru-RU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b="0" i="0" dirty="0">
              <a:solidFill>
                <a:srgbClr val="1D1D1F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045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67235-B120-5DC2-02D3-EDE466B4E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CD6835F-F652-25A6-F645-229017968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68" y="640080"/>
            <a:ext cx="10911865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12F587-5BFE-2158-1B6E-84D728510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BE410B-DACE-F062-AFA8-296F905A2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2729" y="1289303"/>
            <a:ext cx="9638443" cy="3339303"/>
          </a:xfrm>
          <a:ln>
            <a:noFill/>
          </a:ln>
        </p:spPr>
        <p:txBody>
          <a:bodyPr vert="horz" lIns="274320" tIns="182880" rIns="274320" bIns="182880" rtlCol="0" anchor="ctr" anchorCtr="1">
            <a:noAutofit/>
          </a:bodyPr>
          <a:lstStyle/>
          <a:p>
            <a:r>
              <a:rPr lang="ru-RU" sz="3200" dirty="0"/>
              <a:t>Спасибо за внимание</a:t>
            </a:r>
            <a:endParaRPr lang="en-US" sz="3200" kern="1200" cap="all" spc="200" baseline="0" dirty="0">
              <a:solidFill>
                <a:srgbClr val="262626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2827139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088B1-270F-467A-485B-FE41C3B70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06851-A264-79D0-5147-2CE6E03FBAAF}"/>
              </a:ext>
            </a:extLst>
          </p:cNvPr>
          <p:cNvSpPr txBox="1"/>
          <p:nvPr/>
        </p:nvSpPr>
        <p:spPr>
          <a:xfrm>
            <a:off x="4376426" y="0"/>
            <a:ext cx="3439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Список литературы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37EB01-75EB-F47F-3EB8-B95AA247CC82}"/>
              </a:ext>
            </a:extLst>
          </p:cNvPr>
          <p:cNvSpPr txBox="1"/>
          <p:nvPr/>
        </p:nvSpPr>
        <p:spPr>
          <a:xfrm>
            <a:off x="387790" y="523220"/>
            <a:ext cx="11416420" cy="5751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Дубнов Ю. А., Булычев А. В.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Приближенное оценивание с помощью ускоренного метода наибольшей энтропии. Часть 1. Постановка задачи и реализация для задачи регрессии // Информационные технологии и вычислительные системы. 2022.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№ 4. С. 69–80.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18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Rosenblatt M.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Remarks on Some Nonparametric Estimates of a Density Function // The Annals of Mathematical Statistics. — 1956. — Vol. 27, no. 3. — P. 832–837. — DOI: https://doi.org/10.1214/aoms/1177728190.</a:t>
            </a: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US" sz="1800" i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Parzen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E.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On Estimation of a Probability Density Function and Mode // The Annals of Mathematical Statistics. — 1962. — Vol. 33, no. 3. — P. 1065–1076. — DOI: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hlinkClick r:id="rId2"/>
              </a:rPr>
              <a:t>https://doi.org/10.1214/aoms/1177704472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US" sz="1800" i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Nadaraya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E. A.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 Estimating Regression // Theory of Probability and Its Applications. — 1964. — Vol. 9, no. 1. — P. 141–142. — DOI: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hlinkClick r:id="rId3"/>
              </a:rPr>
              <a:t>https://doi.org/10.1137/1109020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US" sz="18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Watson G. S.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Smooth regression analysis //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Sankhyā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The Indian Journal of Statistics, Series A. — 1964. — Vol. 26, no. 4. — P. 359–372. — JSTOR: 25049340.</a:t>
            </a: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US" sz="18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Silverman B. W.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Density Estimation for Statistics and Data Analysis [Text] / B. W. Silverman. — London : Chapman &amp; Hall/CRC, 1986. — 334 p. — ISBN 978-0-412-24620-3.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5175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088B1-270F-467A-485B-FE41C3B70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06851-A264-79D0-5147-2CE6E03FBAAF}"/>
              </a:ext>
            </a:extLst>
          </p:cNvPr>
          <p:cNvSpPr txBox="1"/>
          <p:nvPr/>
        </p:nvSpPr>
        <p:spPr>
          <a:xfrm>
            <a:off x="4376426" y="0"/>
            <a:ext cx="3439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Список литературы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37EB01-75EB-F47F-3EB8-B95AA247CC82}"/>
              </a:ext>
            </a:extLst>
          </p:cNvPr>
          <p:cNvSpPr txBox="1"/>
          <p:nvPr/>
        </p:nvSpPr>
        <p:spPr>
          <a:xfrm>
            <a:off x="387790" y="523220"/>
            <a:ext cx="11416420" cy="419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7"/>
            </a:pPr>
            <a:r>
              <a:rPr lang="en-US" sz="18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McLachlan G., Do K.-A., </a:t>
            </a:r>
            <a:r>
              <a:rPr lang="en-US" sz="1800" i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Ambroise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C.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Analyzing Microarray Gene Expression Data [Text] / G. McLachlan, K.-A. Do, C.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Ambroise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— Hoboken, NJ : Wiley, 2004. — (Wiley Series in Probability and Statistics). — ISBN 978-0-471-22616-1. — DOI: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hlinkClick r:id="rId2"/>
              </a:rPr>
              <a:t>https://doi.org/10.1002/047172842X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7"/>
            </a:pP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7"/>
            </a:pP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Golan A., Judge G. G., Miller D.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Maximum Entropy Econometrics: Robust Estimation with Limited Data. — Chichester: John Wiley and Sons Ltd., 1996.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7"/>
            </a:pP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Воеводин В. В., Кузнецов Ю. А.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Матрицы и вычисления. — М.: Наука, 1984.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7"/>
            </a:pP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Цыпкин Я. З.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Основы теории обучающихся систем. — М.: Наука, 1970.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7"/>
            </a:pP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Efron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B.,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Tibshirani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Improvements on cross-validation: the 632+ bootstrap method // J. Am. Stat. Assoc. 1997. V. 92(438). P. 548–560.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3120668"/>
      </p:ext>
    </p:extLst>
  </p:cSld>
  <p:clrMapOvr>
    <a:masterClrMapping/>
  </p:clrMapOvr>
</p:sld>
</file>

<file path=ppt/theme/theme1.xml><?xml version="1.0" encoding="utf-8"?>
<a:theme xmlns:a="http://schemas.openxmlformats.org/drawingml/2006/main" name="Посылка">
  <a:themeElements>
    <a:clrScheme name="Посылка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Посылка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Посылка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Посылка</Template>
  <TotalTime>1121</TotalTime>
  <Words>1623</Words>
  <Application>Microsoft Office PowerPoint</Application>
  <PresentationFormat>Широкоэкранный</PresentationFormat>
  <Paragraphs>161</Paragraphs>
  <Slides>21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8" baseType="lpstr">
      <vt:lpstr>Aptos</vt:lpstr>
      <vt:lpstr>Arial</vt:lpstr>
      <vt:lpstr>Cambria Math</vt:lpstr>
      <vt:lpstr>Corbel</vt:lpstr>
      <vt:lpstr>Gill Sans MT</vt:lpstr>
      <vt:lpstr>Times New Roman</vt:lpstr>
      <vt:lpstr>Посылка</vt:lpstr>
      <vt:lpstr>Оценивание регрессии: сравнение непараметрического и информационного подходов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энтропийныЙ ПОДХОД ДЛЯ робастноГО ОцениваниЯЕ регрессионных зависимостей энтропийным методом с УЧЕТОМ  на малых выборках с ненормальными ошибками</dc:title>
  <dc:creator>Анфимов Александр Дмитриевич</dc:creator>
  <cp:lastModifiedBy>Александр Анфимов</cp:lastModifiedBy>
  <cp:revision>43</cp:revision>
  <dcterms:created xsi:type="dcterms:W3CDTF">2024-12-16T13:09:05Z</dcterms:created>
  <dcterms:modified xsi:type="dcterms:W3CDTF">2026-04-16T11:56:20Z</dcterms:modified>
</cp:coreProperties>
</file>