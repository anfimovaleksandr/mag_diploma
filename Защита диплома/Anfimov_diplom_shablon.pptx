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70" r:id="rId9"/>
    <p:sldId id="267" r:id="rId10"/>
    <p:sldId id="271" r:id="rId11"/>
    <p:sldId id="272" r:id="rId12"/>
    <p:sldId id="274" r:id="rId13"/>
    <p:sldId id="275" r:id="rId14"/>
    <p:sldId id="277" r:id="rId15"/>
    <p:sldId id="276" r:id="rId16"/>
    <p:sldId id="278" r:id="rId17"/>
    <p:sldId id="279" r:id="rId18"/>
    <p:sldId id="280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orbel" panose="020B0503020204020204" pitchFamily="34" charset="0"/>
      <p:regular r:id="rId26"/>
      <p:bold r:id="rId27"/>
      <p:italic r:id="rId28"/>
      <p:boldItalic r:id="rId29"/>
    </p:embeddedFont>
    <p:embeddedFont>
      <p:font typeface="Montserrat" panose="00000500000000000000" pitchFamily="2" charset="-52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iQzMCp7ArfOIlbnaXV6ah1xdlJ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C5FF"/>
    <a:srgbClr val="8FADE4"/>
    <a:srgbClr val="5B85C3"/>
    <a:srgbClr val="4C79BC"/>
    <a:srgbClr val="B9B9B9"/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customschemas.google.com/relationships/presentationmetadata" Target="metadata"/><Relationship Id="rId21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5531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6426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4755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1938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9702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2028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3672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9697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4791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8139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0882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2925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9156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6039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38512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92d22b61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2a492d22b6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9763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5412828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txBody>
          <a:bodyPr spcFirstLastPara="1" wrap="square" lIns="0" tIns="3888000" rIns="1008000" bIns="432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Магистерская диссертационная работа: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ru-RU" sz="23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«</a:t>
            </a:r>
            <a:r>
              <a:rPr lang="ru-RU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Оценивание регрессии: сравнение непараметрического и информационного подходов</a:t>
            </a:r>
            <a:r>
              <a:rPr lang="ru-RU" sz="23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»</a:t>
            </a:r>
            <a:endParaRPr lang="ru-RU"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296511" y="5454869"/>
            <a:ext cx="9895490" cy="1315471"/>
          </a:xfrm>
          <a:prstGeom prst="rect">
            <a:avLst/>
          </a:prstGeom>
          <a:solidFill>
            <a:srgbClr val="A3CCEE"/>
          </a:solidFill>
          <a:ln>
            <a:noFill/>
          </a:ln>
        </p:spPr>
        <p:txBody>
          <a:bodyPr spcFirstLastPara="1" wrap="square" lIns="144000" tIns="45700" rIns="91425" bIns="45700" anchor="ctr" anchorCtr="0">
            <a:no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Анфимов Александр Дмитриевич</a:t>
            </a:r>
          </a:p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Булычёв Александр Викторович</a:t>
            </a:r>
          </a:p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Направление: «Системный анализ и управление в больших системах»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Дата: 20.06.2026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МФТИ, Долгопрудный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r="24725"/>
          <a:stretch/>
        </p:blipFill>
        <p:spPr>
          <a:xfrm>
            <a:off x="44654" y="5498698"/>
            <a:ext cx="2198664" cy="1271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Проблема и актуальность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24660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fld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BDF3B-4B01-472E-9F25-F1BB77E9D408}"/>
              </a:ext>
            </a:extLst>
          </p:cNvPr>
          <p:cNvSpPr txBox="1"/>
          <p:nvPr/>
        </p:nvSpPr>
        <p:spPr>
          <a:xfrm>
            <a:off x="387790" y="1147254"/>
            <a:ext cx="11416420" cy="482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построения регрессионных моделей:</a:t>
            </a:r>
            <a:r>
              <a:rPr lang="ru-RU" sz="1800" b="1" dirty="0">
                <a:solidFill>
                  <a:srgbClr val="0069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МНК требует выполнения стандартных условий (нормальность ошибок, достаточный для состоятельности оценок объём выборки)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Непараметрические методы (ядерная регрессия) не эффективны при малом количестве точек</a:t>
            </a:r>
          </a:p>
          <a:p>
            <a:pPr algn="just">
              <a:lnSpc>
                <a:spcPct val="2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новизна: 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модифицированного энтропийного метода с «мягкой» рандомизацией к оценке регрессии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ядерной регрессией на синтетических и реальных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Цель и задачи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24660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fld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9E532-C13C-4123-9C26-05677263D019}"/>
              </a:ext>
            </a:extLst>
          </p:cNvPr>
          <p:cNvSpPr txBox="1"/>
          <p:nvPr/>
        </p:nvSpPr>
        <p:spPr>
          <a:xfrm>
            <a:off x="403760" y="1214772"/>
            <a:ext cx="11301868" cy="485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Разработка и экспериментальное обоснование эффективности энтропийного метода оценивания регрессии с «мягкой» рандомизацией в условиях малых выборок и неопределённости распределения ошибок.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алгоритмическое обеспечение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энтропийного метода с «мягкой» рандомизацией для задачи регрессии.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методами ядерной регрессии на синтетических и реальных данных.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границы применимости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метода в зависимости от объёма выборки, уровня шума и сложности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239302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Непараметрический подход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24660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fld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B518E2-A5C0-488A-97B3-31620446354B}"/>
                  </a:ext>
                </a:extLst>
              </p:cNvPr>
              <p:cNvSpPr txBox="1"/>
              <p:nvPr/>
            </p:nvSpPr>
            <p:spPr>
              <a:xfrm>
                <a:off x="289208" y="999422"/>
                <a:ext cx="11416420" cy="5065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классического ядерного сглаживания: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каждой точке вычисляется сглаженная оценка функции плотности с помощью весов, определяемых ядром и полосой пропускания (окном) по формуле </a:t>
                </a:r>
                <a:r>
                  <a:rPr lang="ru-RU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Розенблата-Парзена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6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acc>
                      <m:r>
                        <a:rPr lang="ru-RU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𝑛h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16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sz="1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  <m:r>
                            <a:rPr lang="ru-RU" sz="160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элементы выборки,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ядерная функция, 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полоса пропускания (окно сглаживания).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В задаче регрессии оценка плотности используется для вычисления ядерных весов:</a:t>
                </a:r>
                <a:endParaRPr lang="en-US" sz="16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acc>
                            <m:accPr>
                              <m:chr m:val="̂"/>
                              <m:ctrlPr>
                                <a:rPr lang="ru-RU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den>
                        </m:f>
                      </m:e>
                    </m:d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а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ширина окна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зависит от объёма выборки.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Данная весовая схема применяется для оценки условного математического ожидания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ru-RU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6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ru-RU" sz="16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формуле </a:t>
                </a:r>
                <a:r>
                  <a:rPr lang="ru-RU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Надарая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-Ватсона: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B518E2-A5C0-488A-97B3-316204463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08" y="999422"/>
                <a:ext cx="11416420" cy="5065426"/>
              </a:xfrm>
              <a:prstGeom prst="rect">
                <a:avLst/>
              </a:prstGeom>
              <a:blipFill>
                <a:blip r:embed="rId4"/>
                <a:stretch>
                  <a:fillRect l="-267" b="-6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52AD0-6115-4368-9EE1-B6D799A98CDE}"/>
                  </a:ext>
                </a:extLst>
              </p:cNvPr>
              <p:cNvSpPr txBox="1"/>
              <p:nvPr/>
            </p:nvSpPr>
            <p:spPr>
              <a:xfrm>
                <a:off x="3048494" y="5816063"/>
                <a:ext cx="6095010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52AD0-6115-4368-9EE1-B6D799A98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494" y="5816063"/>
                <a:ext cx="6095010" cy="811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44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Непараметрический подход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24660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fld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7379F-7751-4909-8E26-A7E07450EE7D}"/>
              </a:ext>
            </a:extLst>
          </p:cNvPr>
          <p:cNvSpPr txBox="1"/>
          <p:nvPr/>
        </p:nvSpPr>
        <p:spPr>
          <a:xfrm>
            <a:off x="387790" y="1026796"/>
            <a:ext cx="11416420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ширины окна: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Сильвермана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кросс-валидация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LOOCV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leave-one-out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кросс-валидация)</a:t>
            </a:r>
          </a:p>
          <a:p>
            <a:pPr>
              <a:lnSpc>
                <a:spcPct val="200000"/>
              </a:lnSpc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Ключевое ограничение: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нестабильность на малых выборках.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21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Энтропийный подход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24660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fld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0EC74-6A37-4D66-8037-D8564FC021AB}"/>
                  </a:ext>
                </a:extLst>
              </p:cNvPr>
              <p:cNvSpPr txBox="1"/>
              <p:nvPr/>
            </p:nvSpPr>
            <p:spPr>
              <a:xfrm>
                <a:off x="387790" y="1025028"/>
                <a:ext cx="11416420" cy="5660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классического энтропийного метода: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оцениваемая зависимость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представляет собой модель с параметрами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количество параметров, т. е.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ошибки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предполагаются непрерывными случайными величинами, которые определены на некоторых интервалах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Целью является восстановление по данным оптимальных функций плотности распределения (ФПР) случайных величин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путем максимизации функционала информационной энтропии: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limLoc m:val="subSup"/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sz="18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e>
                          </m:nary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subSup"/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  <m:sup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sz="18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nary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→</m:t>
                          </m:r>
                          <m:func>
                            <m:func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8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eqArr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0EC74-6A37-4D66-8037-D8564FC02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90" y="1025028"/>
                <a:ext cx="11416420" cy="5660780"/>
              </a:xfrm>
              <a:prstGeom prst="rect">
                <a:avLst/>
              </a:prstGeom>
              <a:blipFill>
                <a:blip r:embed="rId4"/>
                <a:stretch>
                  <a:fillRect l="-481" r="-5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06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Энтропийный подход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24660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fld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79765D-4A7B-406B-9E7B-3CA5CFFC182C}"/>
                  </a:ext>
                </a:extLst>
              </p:cNvPr>
              <p:cNvSpPr txBox="1"/>
              <p:nvPr/>
            </p:nvSpPr>
            <p:spPr>
              <a:xfrm>
                <a:off x="319889" y="949607"/>
                <a:ext cx="11552222" cy="5802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«мягкого» энтропийного метода: 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Используется </a:t>
                </a:r>
                <a:r>
                  <a:rPr lang="ru-RU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гельдерова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норма разности невязки: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sz="1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Задача сводится к максимизации функционала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объединяющего энтропию, «эмпирический риск» и среднюю норму ошибок, при условиях нормировки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учета ограничений вводится функционал Лагранжа, а условия оптимальности через производные Гато. Решение задачи в общем виде имеет вид: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𝑑𝑎</m:t>
                                  </m:r>
                                </m:e>
                              </m:nary>
                            </m:den>
                          </m:f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  <m:eqArr>
                        <m:eqArr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b>
                                <m:sup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1800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nary>
                            </m:den>
                          </m:f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В качестве нормы в данном исследовании берется комбинация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79765D-4A7B-406B-9E7B-3CA5CFFC1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89" y="949607"/>
                <a:ext cx="11552222" cy="5802679"/>
              </a:xfrm>
              <a:prstGeom prst="rect">
                <a:avLst/>
              </a:prstGeom>
              <a:blipFill>
                <a:blip r:embed="rId4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96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Дизайн эксперимента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24660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fld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EBEED0BC-67FE-4703-8901-FA920676E8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939806"/>
                  </p:ext>
                </p:extLst>
              </p:nvPr>
            </p:nvGraphicFramePr>
            <p:xfrm>
              <a:off x="414950" y="1043802"/>
              <a:ext cx="11362100" cy="399097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Модели регрессии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Полиномы 1-6 степени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Двумерная смесь нормальных распределений 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6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sz="1600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 подбора степени полинома и параметров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sz="16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Таблица 10">
                <a:extLst>
                  <a:ext uri="{FF2B5EF4-FFF2-40B4-BE49-F238E27FC236}">
                    <a16:creationId xmlns:a16="http://schemas.microsoft.com/office/drawing/2014/main" id="{EBEED0BC-67FE-4703-8901-FA920676E8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939806"/>
                  </p:ext>
                </p:extLst>
              </p:nvPr>
            </p:nvGraphicFramePr>
            <p:xfrm>
              <a:off x="414950" y="1043802"/>
              <a:ext cx="11362100" cy="399097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413385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413385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779145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Модели регрессии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107" t="-107031" r="-536" b="-3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413385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413385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41338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7" t="-588235" r="-100536" b="-295588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sz="16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1144905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16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BCA7F4D4-A572-4D98-AF86-2F581F5DC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123305"/>
              </p:ext>
            </p:extLst>
          </p:nvPr>
        </p:nvGraphicFramePr>
        <p:xfrm>
          <a:off x="414950" y="5057832"/>
          <a:ext cx="11362100" cy="1240155"/>
        </p:xfrm>
        <a:graphic>
          <a:graphicData uri="http://schemas.openxmlformats.org/drawingml/2006/table">
            <a:tbl>
              <a:tblPr firstRow="1" bandRow="1"/>
              <a:tblGrid>
                <a:gridCol w="5681050">
                  <a:extLst>
                    <a:ext uri="{9D8B030D-6E8A-4147-A177-3AD203B41FA5}">
                      <a16:colId xmlns:a16="http://schemas.microsoft.com/office/drawing/2014/main" val="189054888"/>
                    </a:ext>
                  </a:extLst>
                </a:gridCol>
                <a:gridCol w="5681050">
                  <a:extLst>
                    <a:ext uri="{9D8B030D-6E8A-4147-A177-3AD203B41FA5}">
                      <a16:colId xmlns:a16="http://schemas.microsoft.com/office/drawing/2014/main" val="15257053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Gill Sans MT" panose="020B0502020104020203"/>
                          <a:sym typeface="Arial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Генерация ошибок для полиномов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AF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59575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Распределения ошибок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AF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Лапласа,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Гумбеля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Тьюки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др. (30 типов)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AFB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92186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Уровни шума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(коэффициент детерминации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R)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AF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Gill Sans MT" panose="020B0502020104020203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 (низкий), 0.9 (средний), 0.8 (высокий)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AFB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42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02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Дизайн эксперимента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BF86F-C9A4-4910-ADA7-199C6C82843A}"/>
              </a:ext>
            </a:extLst>
          </p:cNvPr>
          <p:cNvSpPr txBox="1"/>
          <p:nvPr/>
        </p:nvSpPr>
        <p:spPr>
          <a:xfrm>
            <a:off x="823" y="895479"/>
            <a:ext cx="12159425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проверки на реальных данных использовался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извержениям гейзера Старый служака.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92FCE-6E2D-4A74-A707-CB2E8B05EB2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377271" y="1554453"/>
            <a:ext cx="7004005" cy="42573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4B438D-338D-4837-9514-298D01E30384}"/>
              </a:ext>
            </a:extLst>
          </p:cNvPr>
          <p:cNvSpPr txBox="1"/>
          <p:nvPr/>
        </p:nvSpPr>
        <p:spPr>
          <a:xfrm>
            <a:off x="150173" y="5865496"/>
            <a:ext cx="11891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Рис. 1. Зависимость между продолжительностью извержения и временем ожидания, Гейзер "Старый Служака" (Озеро Йеллоустон).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08823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Методология сравнения методов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6287F-39B8-44F9-912F-90FE9271339E}"/>
              </a:ext>
            </a:extLst>
          </p:cNvPr>
          <p:cNvSpPr txBox="1"/>
          <p:nvPr/>
        </p:nvSpPr>
        <p:spPr>
          <a:xfrm>
            <a:off x="387790" y="949607"/>
            <a:ext cx="11416420" cy="412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статистические подходы: 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сравнения ядерных методов друг с другом использовался </a:t>
            </a:r>
            <a:r>
              <a:rPr lang="ru-RU" sz="1800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 Фридмана с поправкой </a:t>
            </a:r>
            <a:r>
              <a:rPr lang="ru-RU" sz="1800" b="1" i="0" dirty="0" err="1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Бонферрони</a:t>
            </a:r>
            <a:r>
              <a:rPr lang="ru-RU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сравнения</a:t>
            </a:r>
            <a:r>
              <a:rPr lang="en-US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энтропийного подхода с непараметрическими использовался </a:t>
            </a:r>
            <a:r>
              <a:rPr lang="ru-RU" sz="1800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 </a:t>
            </a:r>
            <a:r>
              <a:rPr lang="ru-RU" sz="1800" b="1" i="0" dirty="0" err="1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Уилкоксона</a:t>
            </a:r>
            <a:r>
              <a:rPr lang="ru-RU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поправкой Холма</a:t>
            </a:r>
            <a:r>
              <a:rPr lang="ru-RU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проверки устойчивости </a:t>
            </a:r>
            <a:r>
              <a:rPr lang="ru-RU" sz="1800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дополнительно сравнивались на наборе </a:t>
            </a:r>
            <a:r>
              <a:rPr lang="ru-RU" sz="1800" dirty="0" err="1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1800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очищенном от выбросов по методу </a:t>
            </a:r>
            <a:r>
              <a:rPr lang="ru-RU" sz="1800" b="1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1,5 </a:t>
            </a:r>
            <a:r>
              <a:rPr lang="en-US" sz="1800" b="1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  <a:r>
              <a:rPr lang="ru-RU" sz="1800" b="1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(1,5 </a:t>
            </a:r>
            <a:r>
              <a:rPr lang="ru-RU" sz="1800" b="1" dirty="0" err="1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межквартильных</a:t>
            </a:r>
            <a:r>
              <a:rPr lang="ru-RU" sz="1800" b="1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разброса)</a:t>
            </a:r>
            <a:r>
              <a:rPr lang="ru-RU" sz="1800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i="0" dirty="0">
              <a:solidFill>
                <a:srgbClr val="1D1D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83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Результаты: полиномиальные данные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5F3CB-EE49-4564-8F81-C3F93F7D10D2}"/>
              </a:ext>
            </a:extLst>
          </p:cNvPr>
          <p:cNvSpPr txBox="1"/>
          <p:nvPr/>
        </p:nvSpPr>
        <p:spPr>
          <a:xfrm>
            <a:off x="519163" y="1080949"/>
            <a:ext cx="1141642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 по сравнению ядерных методов: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Преимущество методов кросс-валидации перед эмпирическим наблюдается только для низкого шума и высоких степеней.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ABC42-43B4-4148-92E5-2C59C3C95A6F}"/>
              </a:ext>
            </a:extLst>
          </p:cNvPr>
          <p:cNvSpPr txBox="1"/>
          <p:nvPr/>
        </p:nvSpPr>
        <p:spPr>
          <a:xfrm>
            <a:off x="989259" y="6243532"/>
            <a:ext cx="1021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2. Сравнение методов ядерного сглаживания по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полиномиальных данных после очистки от выбросов</a:t>
            </a:r>
            <a:endParaRPr lang="ru-RU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2F91D4-2CA6-4CF2-BD28-3216329876A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5238" y="2444838"/>
            <a:ext cx="11941521" cy="37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10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Результаты: полиномиальные данные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5F3CB-EE49-4564-8F81-C3F93F7D10D2}"/>
                  </a:ext>
                </a:extLst>
              </p:cNvPr>
              <p:cNvSpPr txBox="1"/>
              <p:nvPr/>
            </p:nvSpPr>
            <p:spPr>
              <a:xfrm>
                <a:off x="519163" y="1080949"/>
                <a:ext cx="11416420" cy="1894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Основные наблюдения: 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Энтропийный метод демонстрирует эффективность во всех конфигурациях по всем метрикам;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</a:t>
                </a:r>
                <a:r>
                  <a:rPr lang="ru-RU" sz="16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84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% конфигураций различия статистически значимы на уровне 0,1%;</a:t>
                </a:r>
                <a:endParaRPr lang="ru-RU" sz="16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Размер эффекта 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rank-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biseral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в большинстве случаев умеренный </a:t>
                </a:r>
                <a14:m>
                  <m:oMath xmlns:m="http://schemas.openxmlformats.org/officeDocument/2006/math">
                    <m:r>
                      <a:rPr lang="ru-RU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0.3, 0.5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Наибольшее улучшение по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IMSE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достигнуто для полинома 2-й степени (-47,8% к ядерной регрессии).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5F3CB-EE49-4564-8F81-C3F93F7D1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63" y="1080949"/>
                <a:ext cx="11416420" cy="1894749"/>
              </a:xfrm>
              <a:prstGeom prst="rect">
                <a:avLst/>
              </a:prstGeom>
              <a:blipFill>
                <a:blip r:embed="rId4"/>
                <a:stretch>
                  <a:fillRect l="-267" b="-32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A8ABC42-43B4-4148-92E5-2C59C3C95A6F}"/>
              </a:ext>
            </a:extLst>
          </p:cNvPr>
          <p:cNvSpPr txBox="1"/>
          <p:nvPr/>
        </p:nvSpPr>
        <p:spPr>
          <a:xfrm>
            <a:off x="989259" y="6243532"/>
            <a:ext cx="1021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3. Сравнение лучших оценок ядерного и энтропийного подходов по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полиномиальных данных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084D5D-A28C-4285-9BA4-CD1E20B3493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79645" y="3165362"/>
            <a:ext cx="11032709" cy="293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97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Результаты: смесевые данные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5F3CB-EE49-4564-8F81-C3F93F7D10D2}"/>
              </a:ext>
            </a:extLst>
          </p:cNvPr>
          <p:cNvSpPr txBox="1"/>
          <p:nvPr/>
        </p:nvSpPr>
        <p:spPr>
          <a:xfrm>
            <a:off x="519163" y="1080949"/>
            <a:ext cx="1141642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 по сравнению ядерных методов: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Преимущество методов кросс-валидации перед эмпирическим правилом наблюдается по всем метрикам, кроме максимальной ошибки.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ABC42-43B4-4148-92E5-2C59C3C95A6F}"/>
              </a:ext>
            </a:extLst>
          </p:cNvPr>
          <p:cNvSpPr txBox="1"/>
          <p:nvPr/>
        </p:nvSpPr>
        <p:spPr>
          <a:xfrm>
            <a:off x="989259" y="6243532"/>
            <a:ext cx="1021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4. Сравнение методов ядерного сглаживания по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смесевых данных после очистки от выбросов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6812B6-0EE0-45DC-8522-3ADB30E1BC9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25101" y="2449262"/>
            <a:ext cx="11136772" cy="364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Результаты: смесевые данные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5F3CB-EE49-4564-8F81-C3F93F7D10D2}"/>
                  </a:ext>
                </a:extLst>
              </p:cNvPr>
              <p:cNvSpPr txBox="1"/>
              <p:nvPr/>
            </p:nvSpPr>
            <p:spPr>
              <a:xfrm>
                <a:off x="519163" y="1080949"/>
                <a:ext cx="11416420" cy="2264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Основные наблюдения: 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Энтропийный метод демонстрирует сильное преимущество во всех конфигурациях по всем метрикам;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Все различия значимы на уровне 0,1% как до, так и после очистки от выбросов;</a:t>
                </a:r>
                <a:endParaRPr lang="ru-RU" sz="16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Размер эффекта (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rank-</a:t>
                </a:r>
                <a:r>
                  <a:rPr lang="en-US" sz="16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biseral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большой во всех случаях </a:t>
                </a:r>
                <a14:m>
                  <m:oMath xmlns:m="http://schemas.openxmlformats.org/officeDocument/2006/math">
                    <m:r>
                      <a:rPr lang="ru-RU" sz="16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&gt;0</m:t>
                    </m:r>
                    <m:r>
                      <a:rPr lang="ru-RU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 очистки достигает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0,86</m:t>
                    </m:r>
                  </m:oMath>
                </a14:m>
                <a:r>
                  <a:rPr lang="ru-RU" sz="1600" dirty="0"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0,87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Среднее улучшение по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IMSE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95,9%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5F3CB-EE49-4564-8F81-C3F93F7D1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63" y="1080949"/>
                <a:ext cx="11416420" cy="2264081"/>
              </a:xfrm>
              <a:prstGeom prst="rect">
                <a:avLst/>
              </a:prstGeom>
              <a:blipFill>
                <a:blip r:embed="rId4"/>
                <a:stretch>
                  <a:fillRect l="-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A8ABC42-43B4-4148-92E5-2C59C3C95A6F}"/>
              </a:ext>
            </a:extLst>
          </p:cNvPr>
          <p:cNvSpPr txBox="1"/>
          <p:nvPr/>
        </p:nvSpPr>
        <p:spPr>
          <a:xfrm>
            <a:off x="989259" y="6243532"/>
            <a:ext cx="1021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5. Сравнение лучших оценок ядерного и энтропийного подходов по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смесевых данных</a:t>
            </a:r>
            <a:endParaRPr lang="ru-RU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52D8F4F-A361-491A-A3B3-80F9DB54AD5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25097" y="3057828"/>
            <a:ext cx="11302725" cy="318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678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Результаты: реальные данные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77634D-E704-4A96-97A1-6F88B16C2CFB}"/>
              </a:ext>
            </a:extLst>
          </p:cNvPr>
          <p:cNvSpPr txBox="1"/>
          <p:nvPr/>
        </p:nvSpPr>
        <p:spPr>
          <a:xfrm>
            <a:off x="387790" y="5744558"/>
            <a:ext cx="1141642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50000"/>
              </a:lnSpc>
              <a:buClrTx/>
              <a:buFontTx/>
              <a:buNone/>
            </a:pPr>
            <a:r>
              <a:rPr lang="ru-RU" sz="1800" b="1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Основные наблюдения:  </a:t>
            </a:r>
          </a:p>
          <a:p>
            <a:pPr marL="285750" indent="-285750" defTabSz="4572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ru-RU" sz="1800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ядерные методы показали чуть лучшие значения метрик (разница 3–4%);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Таблица 3">
                <a:extLst>
                  <a:ext uri="{FF2B5EF4-FFF2-40B4-BE49-F238E27FC236}">
                    <a16:creationId xmlns:a16="http://schemas.microsoft.com/office/drawing/2014/main" id="{D3BD0879-2FC8-4094-86E3-B18038425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6184977"/>
                  </p:ext>
                </p:extLst>
              </p:nvPr>
            </p:nvGraphicFramePr>
            <p:xfrm>
              <a:off x="601354" y="1540535"/>
              <a:ext cx="10989292" cy="412546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2747323">
                      <a:extLst>
                        <a:ext uri="{9D8B030D-6E8A-4147-A177-3AD203B41FA5}">
                          <a16:colId xmlns:a16="http://schemas.microsoft.com/office/drawing/2014/main" val="2582575054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2884779805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3311561349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780616856"/>
                        </a:ext>
                      </a:extLst>
                    </a:gridCol>
                  </a:tblGrid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Метод</a:t>
                          </a: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𝑹𝑴𝑺</m:t>
                                </m:r>
                                <m:sSub>
                                  <m:sSubPr>
                                    <m:ctrlPr>
                                      <a:rPr lang="ru-RU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𝑪𝑽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𝑴𝑨𝑬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𝑪𝑽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𝑴𝒂𝒙𝑬𝒓𝒓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𝑪𝑽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1595058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Правило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Сильвермана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0.386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0.305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1.040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726768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5-</a:t>
                          </a: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fold 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0.378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0.297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1.088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4294336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LOOCV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0.378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0.296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1.088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1136823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Энтропийный подход</a:t>
                          </a: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0.392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0.304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1.080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109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Таблица 3">
                <a:extLst>
                  <a:ext uri="{FF2B5EF4-FFF2-40B4-BE49-F238E27FC236}">
                    <a16:creationId xmlns:a16="http://schemas.microsoft.com/office/drawing/2014/main" id="{D3BD0879-2FC8-4094-86E3-B18038425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6184977"/>
                  </p:ext>
                </p:extLst>
              </p:nvPr>
            </p:nvGraphicFramePr>
            <p:xfrm>
              <a:off x="601354" y="1540535"/>
              <a:ext cx="10989292" cy="412546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2747323">
                      <a:extLst>
                        <a:ext uri="{9D8B030D-6E8A-4147-A177-3AD203B41FA5}">
                          <a16:colId xmlns:a16="http://schemas.microsoft.com/office/drawing/2014/main" val="2582575054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2884779805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3311561349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780616856"/>
                        </a:ext>
                      </a:extLst>
                    </a:gridCol>
                  </a:tblGrid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1" i="0" u="none" strike="noStrike" cap="none">
                              <a:solidFill>
                                <a:schemeClr val="lt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Метод</a:t>
                          </a: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222" t="-735" r="-20088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222" t="-735" r="-100887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222" t="-735" r="-88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1595058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Правило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Сильвермана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222" t="-101481" r="-200887" b="-3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222" t="-101481" r="-100887" b="-3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222" t="-101481" r="-887" b="-30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726768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5-</a:t>
                          </a: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fold 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222" t="-200000" r="-200887" b="-2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222" t="-200000" r="-100887" b="-2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222" t="-200000" r="-887" b="-2007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4294336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LOOCV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222" t="-302222" r="-200887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222" t="-302222" r="-100887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222" t="-302222" r="-887" b="-1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1136823"/>
                      </a:ext>
                    </a:extLst>
                  </a:tr>
                  <a:tr h="825093">
                    <a:tc>
                      <a:txBody>
                        <a:bodyPr/>
                        <a:lstStyle>
                          <a:lvl1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1pPr>
                          <a:lvl2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2pPr>
                          <a:lvl3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3pPr>
                          <a:lvl4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4pPr>
                          <a:lvl5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5pPr>
                          <a:lvl6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6pPr>
                          <a:lvl7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7pPr>
                          <a:lvl8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8pPr>
                          <a:lvl9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defRPr sz="1400" b="0" i="0" u="none" strike="noStrike" cap="none">
                              <a:solidFill>
                                <a:schemeClr val="dk1"/>
                              </a:solidFill>
                              <a:latin typeface="Gill Sans MT" panose="020B0502020104020203"/>
                              <a:sym typeface="Arial"/>
                            </a:defRPr>
                          </a:lvl9pPr>
                        </a:lstStyle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Энтропийный подход</a:t>
                          </a:r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AFB5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222" t="-399265" r="-200887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222" t="-399265" r="-100887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0222" t="-399265" r="-887" b="-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109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3B8D749-FDCA-4401-A553-8C94DC800F86}"/>
              </a:ext>
            </a:extLst>
          </p:cNvPr>
          <p:cNvSpPr txBox="1"/>
          <p:nvPr/>
        </p:nvSpPr>
        <p:spPr>
          <a:xfrm>
            <a:off x="2495550" y="1035272"/>
            <a:ext cx="7200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buClrTx/>
              <a:buFontTx/>
              <a:buNone/>
            </a:pPr>
            <a:r>
              <a:rPr lang="ru-RU" sz="1800" kern="1200" dirty="0"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Таблица – 1. Результаты оценки качества методов на реальных данных.</a:t>
            </a:r>
            <a:endParaRPr lang="ru-RU" sz="1800" kern="1200" dirty="0">
              <a:latin typeface="Corbel" panose="020B05030202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27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Ограничения энтропийного метода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BFF91-78CB-4329-A1A5-E99134092AC0}"/>
              </a:ext>
            </a:extLst>
          </p:cNvPr>
          <p:cNvSpPr txBox="1"/>
          <p:nvPr/>
        </p:nvSpPr>
        <p:spPr>
          <a:xfrm>
            <a:off x="387789" y="904420"/>
            <a:ext cx="11416420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ограничение: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склонность к консервативному выбору моделей (так называемая «перестраховка»)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C34A8F-1E7A-41E1-8FEC-BB927650698E}"/>
              </a:ext>
            </a:extLst>
          </p:cNvPr>
          <p:cNvSpPr txBox="1"/>
          <p:nvPr/>
        </p:nvSpPr>
        <p:spPr>
          <a:xfrm>
            <a:off x="1517441" y="6231912"/>
            <a:ext cx="91571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Рис. 6. Систематическое смещение подбора степени полинома в энтропийном подходе.</a:t>
            </a:r>
            <a:endParaRPr lang="ru-RU" sz="12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D297F44-ACBE-4D79-9267-21118457FE2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444491" y="1629848"/>
            <a:ext cx="9303015" cy="456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46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Положения выносимые на защиту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6F7AF-0E8A-4B23-A3AA-ECCFD6C07D47}"/>
                  </a:ext>
                </a:extLst>
              </p:cNvPr>
              <p:cNvSpPr txBox="1"/>
              <p:nvPr/>
            </p:nvSpPr>
            <p:spPr>
              <a:xfrm>
                <a:off x="387790" y="885837"/>
                <a:ext cx="11416420" cy="5513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«мягкой» энтропийной рандомизации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обеспечивает робастные оценки регрессии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малых выборках (n ≤ 30) без априорных предположений о распределении ошибок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синтетических данных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статистически значимо превосходит ядерную регрессию на уровне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значимости </a:t>
                </a:r>
                <a14:m>
                  <m:oMath xmlns:m="http://schemas.openxmlformats.org/officeDocument/2006/math">
                    <m:r>
                      <a:rPr lang="ru-RU" sz="1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ru-RU" sz="1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sz="1800" b="1" i="1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большинстве конфигураций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sz="1800" b="1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реальных данных </a:t>
                </a:r>
                <a:r>
                  <a:rPr lang="ru-RU" sz="180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</a:t>
                </a:r>
                <a:r>
                  <a:rPr lang="ru-RU" sz="1800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b="1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показывает сопоставимую точность </a:t>
                </a:r>
                <a:r>
                  <a:rPr lang="ru-RU" sz="1800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непараметрическими аналогами, подтверждая практическую применимость;</a:t>
                </a:r>
              </a:p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sz="1800" b="1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Наибольшая эффективность </a:t>
                </a:r>
                <a:r>
                  <a:rPr lang="ru-RU" sz="1800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метода достигается </a:t>
                </a:r>
                <a:r>
                  <a:rPr lang="ru-RU" sz="1800" b="1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</a:t>
                </a:r>
                <a:r>
                  <a:rPr lang="ru-RU" sz="1800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аппроксимации зависимостей </a:t>
                </a:r>
                <a:r>
                  <a:rPr lang="ru-RU" sz="1800" b="1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низкой сложности в условиях низкого и среднего уровня шума.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6F7AF-0E8A-4B23-A3AA-ECCFD6C07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90" y="885837"/>
                <a:ext cx="11416420" cy="5513304"/>
              </a:xfrm>
              <a:prstGeom prst="rect">
                <a:avLst/>
              </a:prstGeom>
              <a:blipFill>
                <a:blip r:embed="rId4"/>
                <a:stretch>
                  <a:fillRect l="-374" r="-481" b="-7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872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92d22b61_0_21"/>
          <p:cNvSpPr/>
          <p:nvPr/>
        </p:nvSpPr>
        <p:spPr>
          <a:xfrm>
            <a:off x="31751" y="20807"/>
            <a:ext cx="9921900" cy="9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Перспективы развития</a:t>
            </a:r>
          </a:p>
        </p:txBody>
      </p:sp>
      <p:pic>
        <p:nvPicPr>
          <p:cNvPr id="97" name="Google Shape;97;g2a492d22b61_0_21"/>
          <p:cNvPicPr preferRelativeResize="0"/>
          <p:nvPr/>
        </p:nvPicPr>
        <p:blipFill rotWithShape="1">
          <a:blip r:embed="rId3">
            <a:alphaModFix/>
          </a:blip>
          <a:srcRect t="14402" r="2930" b="17663"/>
          <a:stretch/>
        </p:blipFill>
        <p:spPr>
          <a:xfrm>
            <a:off x="9999548" y="20807"/>
            <a:ext cx="2160701" cy="9289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a492d22b61_0_21"/>
          <p:cNvSpPr/>
          <p:nvPr/>
        </p:nvSpPr>
        <p:spPr>
          <a:xfrm>
            <a:off x="11459028" y="6335486"/>
            <a:ext cx="434110" cy="246600"/>
          </a:xfrm>
          <a:prstGeom prst="rect">
            <a:avLst/>
          </a:prstGeom>
          <a:solidFill>
            <a:srgbClr val="4C79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ru-RU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fld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340F7-08CE-41B2-BCC8-633854CBD151}"/>
              </a:ext>
            </a:extLst>
          </p:cNvPr>
          <p:cNvSpPr txBox="1"/>
          <p:nvPr/>
        </p:nvSpPr>
        <p:spPr>
          <a:xfrm>
            <a:off x="387790" y="949607"/>
            <a:ext cx="11416420" cy="343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Возможные направления: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1800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гибридного подхода</a:t>
            </a:r>
            <a:r>
              <a:rPr lang="ru-RU" sz="1800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объединяющего ядерный и энтропийный методы для сохранения устойчивости и гибкости аппроксимации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Развитие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вычислительных методов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связанных с семплированием по методу Монте-Карло, для работы с данными большой размерности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1127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C79BC"/>
      </a:accent1>
      <a:accent2>
        <a:srgbClr val="FF9919"/>
      </a:accent2>
      <a:accent3>
        <a:srgbClr val="99E6F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1170</Words>
  <Application>Microsoft Office PowerPoint</Application>
  <PresentationFormat>Широкоэкранный</PresentationFormat>
  <Paragraphs>161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Cambria Math</vt:lpstr>
      <vt:lpstr>Times New Roman</vt:lpstr>
      <vt:lpstr>Corbel</vt:lpstr>
      <vt:lpstr>Montserrat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Diana Ravilova</dc:creator>
  <cp:lastModifiedBy>Александр Анфимов</cp:lastModifiedBy>
  <cp:revision>11</cp:revision>
  <dcterms:created xsi:type="dcterms:W3CDTF">2024-12-20T14:21:21Z</dcterms:created>
  <dcterms:modified xsi:type="dcterms:W3CDTF">2026-05-22T11:46:53Z</dcterms:modified>
</cp:coreProperties>
</file>