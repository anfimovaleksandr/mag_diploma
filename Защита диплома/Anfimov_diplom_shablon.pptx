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70" r:id="rId9"/>
    <p:sldId id="267" r:id="rId10"/>
    <p:sldId id="271" r:id="rId11"/>
    <p:sldId id="272" r:id="rId12"/>
    <p:sldId id="274" r:id="rId13"/>
    <p:sldId id="275" r:id="rId14"/>
    <p:sldId id="277" r:id="rId15"/>
    <p:sldId id="276" r:id="rId16"/>
    <p:sldId id="278" r:id="rId17"/>
    <p:sldId id="279" r:id="rId18"/>
    <p:sldId id="280" r:id="rId19"/>
    <p:sldId id="281" r:id="rId20"/>
    <p:sldId id="293" r:id="rId21"/>
    <p:sldId id="294" r:id="rId22"/>
    <p:sldId id="295" r:id="rId23"/>
    <p:sldId id="282" r:id="rId24"/>
    <p:sldId id="283" r:id="rId25"/>
    <p:sldId id="284" r:id="rId26"/>
    <p:sldId id="285" r:id="rId27"/>
    <p:sldId id="288" r:id="rId28"/>
    <p:sldId id="289" r:id="rId29"/>
    <p:sldId id="290" r:id="rId30"/>
    <p:sldId id="291" r:id="rId31"/>
    <p:sldId id="292" r:id="rId32"/>
    <p:sldId id="297" r:id="rId33"/>
    <p:sldId id="298" r:id="rId34"/>
    <p:sldId id="299" r:id="rId35"/>
    <p:sldId id="300" r:id="rId36"/>
    <p:sldId id="296" r:id="rId37"/>
  </p:sldIdLst>
  <p:sldSz cx="12192000" cy="6858000"/>
  <p:notesSz cx="6858000" cy="9144000"/>
  <p:embeddedFontLst>
    <p:embeddedFont>
      <p:font typeface="Calibri" panose="020F0502020204030204" pitchFamily="34" charset="0"/>
      <p:regular r:id="rId39"/>
      <p:bold r:id="rId40"/>
      <p:italic r:id="rId41"/>
      <p:boldItalic r:id="rId42"/>
    </p:embeddedFont>
    <p:embeddedFont>
      <p:font typeface="Cambria Math" panose="02040503050406030204" pitchFamily="18" charset="0"/>
      <p:regular r:id="rId43"/>
    </p:embeddedFont>
    <p:embeddedFont>
      <p:font typeface="Corbel" panose="020B0503020204020204" pitchFamily="34" charset="0"/>
      <p:regular r:id="rId44"/>
      <p:bold r:id="rId45"/>
      <p:italic r:id="rId46"/>
      <p:boldItalic r:id="rId47"/>
    </p:embeddedFont>
    <p:embeddedFont>
      <p:font typeface="Montserrat" panose="00000500000000000000" pitchFamily="2" charset="-52"/>
      <p:regular r:id="rId48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2" roundtripDataSignature="AMtx7miQzMCp7ArfOIlbnaXV6ah1xdlJ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C5FF"/>
    <a:srgbClr val="8FADE4"/>
    <a:srgbClr val="5B85C3"/>
    <a:srgbClr val="4C79BC"/>
    <a:srgbClr val="B9B9B9"/>
    <a:srgbClr val="006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455311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764265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4755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91938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59702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2028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36724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96970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04791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58139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008822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29251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191564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260392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938512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97632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4321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64093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81449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404585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969238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733017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306990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900619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583567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623915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530380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0788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84465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1555124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9517276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115092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4976222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492d22b6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4" name="Google Shape;94;g2a492d22b6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8575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2000" cy="5412828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txBody>
          <a:bodyPr spcFirstLastPara="1" wrap="square" lIns="0" tIns="3888000" rIns="1008000" bIns="4320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24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Магистерская диссертационная работа:</a:t>
            </a:r>
            <a:endParaRPr lang="ru-RU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ru-RU" sz="23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«</a:t>
            </a:r>
            <a:r>
              <a:rPr lang="ru-RU" sz="2800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Оценивание регрессии: сравнение непараметрического и информационного подходов</a:t>
            </a:r>
            <a:r>
              <a:rPr lang="ru-RU" sz="23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»</a:t>
            </a:r>
            <a:endParaRPr lang="ru-RU" sz="13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2296511" y="5454869"/>
            <a:ext cx="9895490" cy="1315471"/>
          </a:xfrm>
          <a:prstGeom prst="rect">
            <a:avLst/>
          </a:prstGeom>
          <a:solidFill>
            <a:srgbClr val="A3CCEE"/>
          </a:solidFill>
          <a:ln>
            <a:noFill/>
          </a:ln>
        </p:spPr>
        <p:txBody>
          <a:bodyPr spcFirstLastPara="1" wrap="square" lIns="144000" tIns="45700" rIns="91425" bIns="45700" anchor="ctr" anchorCtr="0">
            <a:no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Александр Дмитриевич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Александр Викторович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20.06.2026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МФТИ, Долгопрудный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3">
            <a:alphaModFix/>
          </a:blip>
          <a:srcRect r="24725"/>
          <a:stretch/>
        </p:blipFill>
        <p:spPr>
          <a:xfrm>
            <a:off x="44654" y="5498698"/>
            <a:ext cx="2198664" cy="12716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Проблема и актуальность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7BDF3B-4B01-472E-9F25-F1BB77E9D408}"/>
              </a:ext>
            </a:extLst>
          </p:cNvPr>
          <p:cNvSpPr txBox="1"/>
          <p:nvPr/>
        </p:nvSpPr>
        <p:spPr>
          <a:xfrm>
            <a:off x="387790" y="1147254"/>
            <a:ext cx="11416420" cy="5513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 построения регрессионных моделей:</a:t>
            </a:r>
            <a:r>
              <a:rPr lang="ru-RU" sz="1800" b="1" dirty="0">
                <a:solidFill>
                  <a:srgbClr val="0069B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Классический МНК требует выполнения стандартных условий (нормальность ошибок, достаточный для состоятельности оценок объём выборки)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корректной параметризации модели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Непараметрические методы (ядерная регрессия) не эффективны при малом количестве точек</a:t>
            </a:r>
          </a:p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Научная новизна:  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модифицированного энтропийного метода с «мягкой» рандомизацией к оценке регрессии</a:t>
            </a:r>
          </a:p>
          <a:p>
            <a:pPr marL="285750" indent="-285750" algn="just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преимуществ метода на синтетических и реальных данных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Цель и задачи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79E532-C13C-4123-9C26-05677263D019}"/>
              </a:ext>
            </a:extLst>
          </p:cNvPr>
          <p:cNvSpPr txBox="1"/>
          <p:nvPr/>
        </p:nvSpPr>
        <p:spPr>
          <a:xfrm>
            <a:off x="403760" y="1214772"/>
            <a:ext cx="11301868" cy="4301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Разработка и обоснование эффективности энтропийного метода оценивания регрессии с «мягкой» рандомизацией в условиях малых выборок и неопределённости распределения ошибок.</a:t>
            </a:r>
            <a:endParaRPr lang="ru-RU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250000"/>
              </a:lnSpc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 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алгоритм реализующий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метода с «мягкой» рандомизацией для решения задачи регрессии.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существующими методами на синтетических и реальных данных.</a:t>
            </a:r>
          </a:p>
          <a:p>
            <a:pPr marL="3429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ru-RU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 области применимости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метода в зависимости от объёма выборки, шума и сложности модели.</a:t>
            </a:r>
          </a:p>
        </p:txBody>
      </p:sp>
    </p:spTree>
    <p:extLst>
      <p:ext uri="{BB962C8B-B14F-4D97-AF65-F5344CB8AC3E}">
        <p14:creationId xmlns:p14="http://schemas.microsoft.com/office/powerpoint/2010/main" val="2393024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Непараметрический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CB518E2-A5C0-488A-97B3-31620446354B}"/>
                  </a:ext>
                </a:extLst>
              </p:cNvPr>
              <p:cNvSpPr txBox="1"/>
              <p:nvPr/>
            </p:nvSpPr>
            <p:spPr>
              <a:xfrm>
                <a:off x="289208" y="999422"/>
                <a:ext cx="11416420" cy="5065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ядерного сглаживания: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каждой точке вычисляется сглаженная оценка функции плотности с помощью весов, определяемых ядром и полосой пропускания (окном) по формуле </a:t>
                </a:r>
                <a:r>
                  <a:rPr lang="ru-RU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Розенблата-Парзена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acc>
                      <m:r>
                        <a:rPr lang="ru-RU" sz="1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𝑛h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den>
                              </m:f>
                            </m:e>
                          </m:d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 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элементы выборки, </a:t>
                </a:r>
                <a14:m>
                  <m:oMath xmlns:m="http://schemas.openxmlformats.org/officeDocument/2006/math"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ядерная функция, </a:t>
                </a:r>
                <a14:m>
                  <m:oMath xmlns:m="http://schemas.openxmlformats.org/officeDocument/2006/math">
                    <m:r>
                      <a:rPr lang="ru-RU" sz="1600" b="0" i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полоса пропускания (окно сглаживания).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В задаче регрессии оценка плотности используется для вычисления весов:</a:t>
                </a:r>
                <a:endPara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𝑛𝑖</m:t>
                          </m:r>
                        </m:sub>
                      </m:sSub>
                      <m:d>
                        <m:d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acc>
                            <m:accPr>
                              <m:chr m:val="̂"/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ru-RU" sz="16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ru-RU" sz="1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h</m:t>
                            </m:r>
                          </m:den>
                        </m:f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а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ширина окна </a:t>
                </a:r>
                <a14:m>
                  <m:oMath xmlns:m="http://schemas.openxmlformats.org/officeDocument/2006/math"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зависит от объёма выборки.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Данная схема весов применяется для оценки условного математического ожидания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e>
                        <m:r>
                          <a:rPr lang="ru-RU" sz="1600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формуле </a:t>
                </a:r>
                <a:r>
                  <a:rPr lang="ru-RU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Надарая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-Ватсона:</a:t>
                </a:r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CB518E2-A5C0-488A-97B3-316204463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08" y="999422"/>
                <a:ext cx="11416420" cy="5065426"/>
              </a:xfrm>
              <a:prstGeom prst="rect">
                <a:avLst/>
              </a:prstGeom>
              <a:blipFill>
                <a:blip r:embed="rId4"/>
                <a:stretch>
                  <a:fillRect l="-267" b="-60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D52AD0-6115-4368-9EE1-B6D799A98CDE}"/>
                  </a:ext>
                </a:extLst>
              </p:cNvPr>
              <p:cNvSpPr txBox="1"/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D52AD0-6115-4368-9EE1-B6D799A98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440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Непараметрический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7379F-7751-4909-8E26-A7E07450EE7D}"/>
              </a:ext>
            </a:extLst>
          </p:cNvPr>
          <p:cNvSpPr txBox="1"/>
          <p:nvPr/>
        </p:nvSpPr>
        <p:spPr>
          <a:xfrm>
            <a:off x="387790" y="1026796"/>
            <a:ext cx="11416420" cy="3331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ширины окна: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Правило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Сильвермана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5-fold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кросс-валидация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LOOCV (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leave-one-out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кросс-валидация)</a:t>
            </a:r>
          </a:p>
          <a:p>
            <a:pPr>
              <a:lnSpc>
                <a:spcPct val="200000"/>
              </a:lnSpc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Ключевое ограничение: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нестабильность на малых выборках.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21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Энтропийный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0EC74-6A37-4D66-8037-D8564FC021AB}"/>
                  </a:ext>
                </a:extLst>
              </p:cNvPr>
              <p:cNvSpPr txBox="1"/>
              <p:nvPr/>
            </p:nvSpPr>
            <p:spPr>
              <a:xfrm>
                <a:off x="387790" y="1025028"/>
                <a:ext cx="11416420" cy="5660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энтропийного метода: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оцениваемая зависимость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представляет собой модель с параметрами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количество параметров, т. е.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20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ошибки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предполагаются непрерывными случайными величинами, которые определены на некоторых интервалах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Целью является восстановление на основе исходных данных оптимальных функций плотности вероятности (ФПВ) случайных величин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максимизацией функционала информационной энтропии: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limLoc m:val="subSup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𝑑𝑎</m:t>
                              </m:r>
                            </m:e>
                          </m:nary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subSup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nary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→</m:t>
                          </m:r>
                          <m:func>
                            <m:func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sz="18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func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0EC74-6A37-4D66-8037-D8564FC02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1025028"/>
                <a:ext cx="11416420" cy="5660780"/>
              </a:xfrm>
              <a:prstGeom prst="rect">
                <a:avLst/>
              </a:prstGeom>
              <a:blipFill>
                <a:blip r:embed="rId4"/>
                <a:stretch>
                  <a:fillRect l="-481" r="-4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064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Энтропийный подход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7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79765D-4A7B-406B-9E7B-3CA5CFFC182C}"/>
                  </a:ext>
                </a:extLst>
              </p:cNvPr>
              <p:cNvSpPr txBox="1"/>
              <p:nvPr/>
            </p:nvSpPr>
            <p:spPr>
              <a:xfrm>
                <a:off x="319889" y="949607"/>
                <a:ext cx="11552222" cy="5802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«мягкого» энтропийного метода: 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Используется </a:t>
                </a:r>
                <a:r>
                  <a:rPr lang="ru-RU" sz="18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гельдерова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норма разности невязки: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sz="18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 Задача сводится к максимизации функционала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объединяющего энтропию, «эмпирический риск» и среднюю норму ошибок, при условиях нормировки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учета ограничений вводится функционал Лагранжа. Условия оптимальности выводятся через производные Гато. Решение задачи в общем виде имеет вид: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80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𝑑𝑎</m:t>
                                  </m:r>
                                </m:e>
                              </m:nary>
                            </m:den>
                          </m:f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  <m:eqArr>
                        <m:eqArr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b>
                                <m:sup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80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sz="1800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nary>
                            </m:den>
                          </m:f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В качестве нормы в данном исследовании берется комбинация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79765D-4A7B-406B-9E7B-3CA5CFFC1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89" y="949607"/>
                <a:ext cx="11552222" cy="5802679"/>
              </a:xfrm>
              <a:prstGeom prst="rect">
                <a:avLst/>
              </a:prstGeom>
              <a:blipFill>
                <a:blip r:embed="rId4"/>
                <a:stretch>
                  <a:fillRect l="-4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4962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Дизайн эксперимента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24660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8</a:t>
            </a:fld>
            <a:endParaRPr sz="1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Таблица 10">
                <a:extLst>
                  <a:ext uri="{FF2B5EF4-FFF2-40B4-BE49-F238E27FC236}">
                    <a16:creationId xmlns:a16="http://schemas.microsoft.com/office/drawing/2014/main" id="{EBEED0BC-67FE-4703-8901-FA920676E8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2780944"/>
                  </p:ext>
                </p:extLst>
              </p:nvPr>
            </p:nvGraphicFramePr>
            <p:xfrm>
              <a:off x="414950" y="1043802"/>
              <a:ext cx="11362100" cy="435673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Полиномы 1-6 степени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Двумерная смесь нормальных распределений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𝐸</m:t>
                              </m:r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sz="1600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кросс-валидация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leave-one-out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кросс-валидация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 подбора степени полинома и параметров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Таблица 10">
                <a:extLst>
                  <a:ext uri="{FF2B5EF4-FFF2-40B4-BE49-F238E27FC236}">
                    <a16:creationId xmlns:a16="http://schemas.microsoft.com/office/drawing/2014/main" id="{EBEED0BC-67FE-4703-8901-FA920676E8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2780944"/>
                  </p:ext>
                </p:extLst>
              </p:nvPr>
            </p:nvGraphicFramePr>
            <p:xfrm>
              <a:off x="414950" y="1043802"/>
              <a:ext cx="11362100" cy="435673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77914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107" t="-107031" r="-536" b="-36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77914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кросс-валидация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dirty="0" err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leave-one-out</a:t>
                          </a:r>
                          <a:r>
                            <a:rPr lang="ru-RU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кросс-валидация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4133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7" t="-676471" r="-100536" b="-295588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.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114490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BCA7F4D4-A572-4D98-AF86-2F581F5DC7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3205279"/>
                  </p:ext>
                </p:extLst>
              </p:nvPr>
            </p:nvGraphicFramePr>
            <p:xfrm>
              <a:off x="414950" y="5057832"/>
              <a:ext cx="11362100" cy="12401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89054888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152570530"/>
                        </a:ext>
                      </a:extLst>
                    </a:gridCol>
                  </a:tblGrid>
                  <a:tr h="370840">
                    <a:tc gridSpan="2"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Генерация ошибок для полиномов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455957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Распределения ошибок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Лапласа,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Гумбеля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Тьюки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и др. (30 типов)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792186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Уровни шума</a:t>
                          </a:r>
                          <a:r>
                            <a:rPr lang="en-US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(коэффициент детерминации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sz="16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0.95 (низкий), 0.9 (средний), 0.8 (высокий)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442137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BCA7F4D4-A572-4D98-AF86-2F581F5DC7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3205279"/>
                  </p:ext>
                </p:extLst>
              </p:nvPr>
            </p:nvGraphicFramePr>
            <p:xfrm>
              <a:off x="414950" y="5057832"/>
              <a:ext cx="11362100" cy="12401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89054888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152570530"/>
                        </a:ext>
                      </a:extLst>
                    </a:gridCol>
                  </a:tblGrid>
                  <a:tr h="413385">
                    <a:tc gridSpan="2"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sz="16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Генерация ошибок для полиномов</a:t>
                          </a: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4559575"/>
                      </a:ext>
                    </a:extLst>
                  </a:tr>
                  <a:tr h="413385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Распределения ошибок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Лапласа,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Гумбеля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, </a:t>
                          </a:r>
                          <a:r>
                            <a:rPr lang="ru-RU" sz="1600" b="0" i="0" kern="1200" dirty="0" err="1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Тьюки</a:t>
                          </a: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 и др. (30 типов)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7921860"/>
                      </a:ext>
                    </a:extLst>
                  </a:tr>
                  <a:tr h="41338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7" t="-202941" r="-100536" b="-17647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0.95 (низкий), 0.9 (средний), 0.8 (высокий)</a:t>
                          </a:r>
                          <a:endParaRPr lang="ru-RU" sz="16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442137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9202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Дизайн эксперимента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9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0BF86F-C9A4-4910-ADA7-199C6C82843A}"/>
              </a:ext>
            </a:extLst>
          </p:cNvPr>
          <p:cNvSpPr txBox="1"/>
          <p:nvPr/>
        </p:nvSpPr>
        <p:spPr>
          <a:xfrm>
            <a:off x="823" y="895479"/>
            <a:ext cx="12159425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Для проверки на реальных данных использовался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извержениям гейзера Старый служака.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92FCE-6E2D-4A74-A707-CB2E8B05EB2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2377271" y="1554453"/>
            <a:ext cx="7004005" cy="42573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A4B438D-338D-4837-9514-298D01E30384}"/>
              </a:ext>
            </a:extLst>
          </p:cNvPr>
          <p:cNvSpPr txBox="1"/>
          <p:nvPr/>
        </p:nvSpPr>
        <p:spPr>
          <a:xfrm>
            <a:off x="150173" y="5865496"/>
            <a:ext cx="118916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Рис. 1. Зависимость между продолжительностью извержения и временем ожидания, Гейзер "Старый Служака" (Озеро Йеллоустон).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088233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Методология сравнения методов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F6287F-39B8-44F9-912F-90FE9271339E}"/>
              </a:ext>
            </a:extLst>
          </p:cNvPr>
          <p:cNvSpPr txBox="1"/>
          <p:nvPr/>
        </p:nvSpPr>
        <p:spPr>
          <a:xfrm>
            <a:off x="387790" y="949607"/>
            <a:ext cx="11416420" cy="412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статистические подходы: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 ядерных методов друг с другом использовался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Фридмана с поправкой </a:t>
            </a:r>
            <a:r>
              <a:rPr lang="ru-RU" sz="1800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Бонферрони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</a:t>
            </a:r>
            <a:r>
              <a:rPr lang="en-US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энтропийного подхода с непараметрическими использовался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</a:t>
            </a:r>
            <a:r>
              <a:rPr lang="ru-RU" sz="1800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Уилкоксона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поправкой Холма</a:t>
            </a: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проверки устойчивости 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дополнительно сравнивались на наборе </a:t>
            </a:r>
            <a:r>
              <a:rPr lang="ru-RU" sz="1800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датасетов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очищенном от выбросов по методу 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1,5 </a:t>
            </a:r>
            <a:r>
              <a:rPr lang="en-US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IQR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(1,5 </a:t>
            </a:r>
            <a:r>
              <a:rPr lang="ru-RU" sz="1800" b="1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межквартильных</a:t>
            </a:r>
            <a:r>
              <a:rPr lang="ru-RU" sz="1800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размаха)</a:t>
            </a:r>
            <a:r>
              <a:rPr lang="ru-RU" sz="1800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800" i="0" dirty="0">
              <a:solidFill>
                <a:srgbClr val="1D1D1F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83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5F3CB-EE49-4564-8F81-C3F93F7D10D2}"/>
              </a:ext>
            </a:extLst>
          </p:cNvPr>
          <p:cNvSpPr txBox="1"/>
          <p:nvPr/>
        </p:nvSpPr>
        <p:spPr>
          <a:xfrm>
            <a:off x="519163" y="1080949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наблюдается для низкого шума и высоких степеней.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2. Сравнение методов ядерного сглаживания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 после очистки от выбросов</a:t>
            </a:r>
            <a:endParaRPr lang="ru-RU" sz="16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A2F91D4-2CA6-4CF2-BD28-3216329876AB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25238" y="2444838"/>
            <a:ext cx="11941521" cy="37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810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/>
              <p:nvPr/>
            </p:nvSpPr>
            <p:spPr>
              <a:xfrm>
                <a:off x="519163" y="1080949"/>
                <a:ext cx="11416420" cy="18947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эффективность во всех конфигурациях по выбранным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9</a:t>
                </a: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4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% конфигураций различия статистически значимы на уровне 0,1%;</a:t>
                </a:r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большинстве случаев умеренный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0.3, 0.5</m:t>
                        </m:r>
                      </m:e>
                    </m:d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Наибольшее улучшение по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достигнуто для полинома 2-й степени (в два раза по отношению к ядерной регрессии).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63" y="1080949"/>
                <a:ext cx="11416420" cy="1894749"/>
              </a:xfrm>
              <a:prstGeom prst="rect">
                <a:avLst/>
              </a:prstGeom>
              <a:blipFill>
                <a:blip r:embed="rId4"/>
                <a:stretch>
                  <a:fillRect l="-267" b="-32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3. Сравнение лучших оценок ядерного и энтропийного подходов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</a:t>
            </a:r>
            <a:endParaRPr lang="ru-RU" sz="2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084D5D-A28C-4285-9BA4-CD1E20B3493F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79645" y="3165362"/>
            <a:ext cx="11032709" cy="293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097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5F3CB-EE49-4564-8F81-C3F93F7D10D2}"/>
              </a:ext>
            </a:extLst>
          </p:cNvPr>
          <p:cNvSpPr txBox="1"/>
          <p:nvPr/>
        </p:nvSpPr>
        <p:spPr>
          <a:xfrm>
            <a:off x="519163" y="1080949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наблюдается по всем метрикам, кроме метода учитывающего максимальную ошибку.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4. Сравнение методов ядерного сглаживания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 после очистки от выбросов</a:t>
            </a:r>
            <a:endParaRPr lang="ru-RU" sz="2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6812B6-0EE0-45DC-8522-3ADB30E1BC9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25101" y="2449262"/>
            <a:ext cx="11136772" cy="364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85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/>
              <p:nvPr/>
            </p:nvSpPr>
            <p:spPr>
              <a:xfrm>
                <a:off x="519163" y="1080949"/>
                <a:ext cx="11416420" cy="22640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выводы: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преимущество в рассмотренных конфигурациях по выбранным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Р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азличия значимы на уровне 0,1% </a:t>
                </a: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до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и после очистки от выбросов;</a:t>
                </a:r>
                <a:endPara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обнаруживается во всех случаях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a:rPr lang="ru-RU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 очистки достигает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0,86</m:t>
                    </m:r>
                  </m:oMath>
                </a14:m>
                <a:r>
                  <a:rPr lang="ru-RU" sz="1600" dirty="0">
                    <a:cs typeface="Times New Roman" panose="02020603050405020304" pitchFamily="18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0,87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Среднее улучшение по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95,9%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5F3CB-EE49-4564-8F81-C3F93F7D1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63" y="1080949"/>
                <a:ext cx="11416420" cy="2264081"/>
              </a:xfrm>
              <a:prstGeom prst="rect">
                <a:avLst/>
              </a:prstGeom>
              <a:blipFill>
                <a:blip r:embed="rId4"/>
                <a:stretch>
                  <a:fillRect l="-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A8ABC42-43B4-4148-92E5-2C59C3C95A6F}"/>
              </a:ext>
            </a:extLst>
          </p:cNvPr>
          <p:cNvSpPr txBox="1"/>
          <p:nvPr/>
        </p:nvSpPr>
        <p:spPr>
          <a:xfrm>
            <a:off x="989259" y="6243532"/>
            <a:ext cx="10213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5. Сравнение оценок ядерного и энтропийного подходов по </a:t>
            </a:r>
            <a:r>
              <a:rPr lang="en-US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</a:t>
            </a:r>
            <a:endParaRPr lang="ru-RU" sz="20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52D8F4F-A361-491A-A3B3-80F9DB54AD5D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25097" y="3057828"/>
            <a:ext cx="11302725" cy="318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678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Результаты: реальные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15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77634D-E704-4A96-97A1-6F88B16C2CFB}"/>
              </a:ext>
            </a:extLst>
          </p:cNvPr>
          <p:cNvSpPr txBox="1"/>
          <p:nvPr/>
        </p:nvSpPr>
        <p:spPr>
          <a:xfrm>
            <a:off x="387790" y="5744558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lnSpc>
                <a:spcPct val="150000"/>
              </a:lnSpc>
              <a:buClrTx/>
              <a:buFontTx/>
              <a:buNone/>
            </a:pPr>
            <a:r>
              <a:rPr lang="ru-RU" sz="1800" b="1" kern="12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Основные наблюдения:  </a:t>
            </a:r>
          </a:p>
          <a:p>
            <a:pPr marL="285750" indent="-285750" defTabSz="457200">
              <a:lnSpc>
                <a:spcPct val="150000"/>
              </a:lnSpc>
              <a:buClrTx/>
              <a:buFont typeface="Arial" panose="020B0604020202020204" pitchFamily="34" charset="0"/>
              <a:buChar char="•"/>
            </a:pPr>
            <a:r>
              <a:rPr lang="ru-RU" sz="1800" kern="12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ядерные методы показали лучшие значения метрик (разница 3–4%);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Таблица 3">
                <a:extLst>
                  <a:ext uri="{FF2B5EF4-FFF2-40B4-BE49-F238E27FC236}">
                    <a16:creationId xmlns:a16="http://schemas.microsoft.com/office/drawing/2014/main" id="{D3BD0879-2FC8-4094-86E3-B180384259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6184977"/>
                  </p:ext>
                </p:extLst>
              </p:nvPr>
            </p:nvGraphicFramePr>
            <p:xfrm>
              <a:off x="601354" y="1540535"/>
              <a:ext cx="10989292" cy="412546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Метод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𝑹𝑴𝑺</m:t>
                                </m:r>
                                <m:sSub>
                                  <m:sSubPr>
                                    <m:ctrlPr>
                                      <a:rPr lang="ru-RU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𝑴𝑨𝑬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𝑴𝒂𝒙𝑬𝒓𝒓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Сильвермана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0.386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0.305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1.040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0.378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0.297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0.378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0.296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1.088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0.392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0.304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i="1" dirty="0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1.080</m:t>
                                </m:r>
                              </m:oMath>
                            </m:oMathPara>
                          </a14:m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Таблица 3">
                <a:extLst>
                  <a:ext uri="{FF2B5EF4-FFF2-40B4-BE49-F238E27FC236}">
                    <a16:creationId xmlns:a16="http://schemas.microsoft.com/office/drawing/2014/main" id="{D3BD0879-2FC8-4094-86E3-B180384259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6184977"/>
                  </p:ext>
                </p:extLst>
              </p:nvPr>
            </p:nvGraphicFramePr>
            <p:xfrm>
              <a:off x="601354" y="1540535"/>
              <a:ext cx="10989292" cy="412546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1" i="0" u="none" strike="noStrike" cap="none">
                              <a:solidFill>
                                <a:schemeClr val="lt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Метод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735" r="-200887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735" r="-100887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381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735" r="-88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Сильвермана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101481" r="-200887" b="-3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101481" r="-100887" b="-3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381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101481" r="-887" b="-3029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200000" r="-200887" b="-2007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200000" r="-100887" b="-2007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200000" r="-887" b="-2007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4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302222" r="-200887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302222" r="-100887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302222" r="-887" b="-1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>
                          <a:lvl1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1pPr>
                          <a:lvl2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2pPr>
                          <a:lvl3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3pPr>
                          <a:lvl4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4pPr>
                          <a:lvl5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5pPr>
                          <a:lvl6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6pPr>
                          <a:lvl7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7pPr>
                          <a:lvl8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8pPr>
                          <a:lvl9pPr marR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defRPr sz="1400" b="0" i="0" u="none" strike="noStrike" cap="none">
                              <a:solidFill>
                                <a:schemeClr val="dk1"/>
                              </a:solidFill>
                              <a:latin typeface="Gill Sans MT" panose="020B0502020104020203"/>
                              <a:sym typeface="Arial"/>
                            </a:defRPr>
                          </a:lvl9pPr>
                        </a:lstStyle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AFB5">
                            <a:tint val="20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222" t="-399265" r="-200887" b="-1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222" t="-399265" r="-100887" b="-1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0" marR="0" marT="0" marB="0" anchor="ctr">
                        <a:lnL w="12700" cmpd="sng">
                          <a:solidFill>
                            <a:srgbClr val="FFFFFF"/>
                          </a:solidFill>
                        </a:lnL>
                        <a:lnR w="12700" cmpd="sng">
                          <a:solidFill>
                            <a:srgbClr val="FFFFFF"/>
                          </a:solidFill>
                        </a:lnR>
                        <a:lnT w="12700" cmpd="sng">
                          <a:solidFill>
                            <a:srgbClr val="FFFFFF"/>
                          </a:solidFill>
                        </a:lnT>
                        <a:lnB w="12700" cmpd="sng">
                          <a:solidFill>
                            <a:srgbClr val="FFFFFF"/>
                          </a:solidFill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222" t="-399265" r="-887" b="-1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3B8D749-FDCA-4401-A553-8C94DC800F86}"/>
              </a:ext>
            </a:extLst>
          </p:cNvPr>
          <p:cNvSpPr txBox="1"/>
          <p:nvPr/>
        </p:nvSpPr>
        <p:spPr>
          <a:xfrm>
            <a:off x="2495550" y="1035272"/>
            <a:ext cx="7200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</a:pPr>
            <a:r>
              <a:rPr lang="ru-RU" sz="1800" kern="1200" dirty="0">
                <a:latin typeface="Times New Roman" panose="02020603050405020304" pitchFamily="18" charset="0"/>
                <a:ea typeface="Calibri" panose="020F0502020204030204" pitchFamily="34" charset="0"/>
                <a:cs typeface="+mn-cs"/>
              </a:rPr>
              <a:t>Таблица – 1. Результаты оценки качества методов на реальных данных.</a:t>
            </a:r>
            <a:endParaRPr lang="ru-RU" sz="1800" kern="1200" dirty="0">
              <a:latin typeface="Corbel" panose="020B05030202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527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Ограничения энтропийного метода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16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EBFF91-78CB-4329-A1A5-E99134092AC0}"/>
              </a:ext>
            </a:extLst>
          </p:cNvPr>
          <p:cNvSpPr txBox="1"/>
          <p:nvPr/>
        </p:nvSpPr>
        <p:spPr>
          <a:xfrm>
            <a:off x="259663" y="886650"/>
            <a:ext cx="11416420" cy="602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Основное ограничение: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выбор моделей определённого класса, в нашем случае структурное занижение степени полинома</a:t>
            </a:r>
            <a:endParaRPr lang="ru-RU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34A8F-1E7A-41E1-8FEC-BB927650698E}"/>
              </a:ext>
            </a:extLst>
          </p:cNvPr>
          <p:cNvSpPr txBox="1"/>
          <p:nvPr/>
        </p:nvSpPr>
        <p:spPr>
          <a:xfrm>
            <a:off x="1517441" y="6231912"/>
            <a:ext cx="91571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6. Систематическое смещение подбора степени полинома в энтропийном подходе.</a:t>
            </a:r>
            <a:endParaRPr lang="ru-RU" sz="1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D297F44-ACBE-4D79-9267-21118457FE2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444491" y="1629848"/>
            <a:ext cx="9303015" cy="4568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146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Положения выносимые на защиту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17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6F7AF-0E8A-4B23-A3AA-ECCFD6C07D47}"/>
                  </a:ext>
                </a:extLst>
              </p:cNvPr>
              <p:cNvSpPr txBox="1"/>
              <p:nvPr/>
            </p:nvSpPr>
            <p:spPr>
              <a:xfrm>
                <a:off x="387790" y="885837"/>
                <a:ext cx="11416420" cy="41283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«мягкой» энтропийной рандомизации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обеспечивает робастные оценки регрессии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малых выборках (n ≤ 30) без априорных предположений о распределении ошибок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синтетических данных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превосходит по выбранным метрикам ядерную регрессию на уровне</a:t>
                </a:r>
                <a:r>
                  <a:rPr lang="en-US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значимости </a:t>
                </a:r>
                <a14:m>
                  <m:oMath xmlns:m="http://schemas.openxmlformats.org/officeDocument/2006/math"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sz="1800" b="1" i="1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большинстве конфигураций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реальных данных </a:t>
                </a:r>
                <a:r>
                  <a:rPr lang="ru-RU" sz="180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</a:t>
                </a:r>
                <a:r>
                  <a:rPr lang="ru-RU" sz="1800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показывает сопоставимую точность </a:t>
                </a:r>
                <a:r>
                  <a:rPr lang="ru-RU" sz="1800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 непараметрическими методами;</a:t>
                </a:r>
              </a:p>
              <a:p>
                <a:pPr marL="285750" indent="-285750" algn="just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эффективен при</a:t>
                </a:r>
                <a:r>
                  <a:rPr lang="ru-RU" sz="1800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аппроксимации зависимостей </a:t>
                </a:r>
                <a:r>
                  <a:rPr lang="ru-RU" sz="1800" b="1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со сложными уровнями шума.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6F7AF-0E8A-4B23-A3AA-ECCFD6C07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885837"/>
                <a:ext cx="11416420" cy="4128310"/>
              </a:xfrm>
              <a:prstGeom prst="rect">
                <a:avLst/>
              </a:prstGeom>
              <a:blipFill>
                <a:blip r:embed="rId4"/>
                <a:stretch>
                  <a:fillRect l="-374" r="-481" b="-13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9872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Перспективы дальнейшего развития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18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3340F7-08CE-41B2-BCC8-633854CBD151}"/>
              </a:ext>
            </a:extLst>
          </p:cNvPr>
          <p:cNvSpPr txBox="1"/>
          <p:nvPr/>
        </p:nvSpPr>
        <p:spPr>
          <a:xfrm>
            <a:off x="387790" y="949607"/>
            <a:ext cx="11416420" cy="343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Возможные направления: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sz="1800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гибридного подхода</a:t>
            </a:r>
            <a:r>
              <a:rPr lang="ru-RU" sz="1800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объединяющего ядерный и энтропийный методы для сохранения устойчивости и гибкости аппроксимации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Развитие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вычислительных методов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связанных с семплированием по методу Монте-Карло, для работы с данными большой размерности</a:t>
            </a:r>
            <a:r>
              <a:rPr lang="ru-RU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112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2000" cy="5412828"/>
          </a:xfrm>
          <a:prstGeom prst="rect">
            <a:avLst/>
          </a:prstGeom>
          <a:solidFill>
            <a:srgbClr val="0069B4"/>
          </a:solidFill>
          <a:ln>
            <a:noFill/>
          </a:ln>
        </p:spPr>
        <p:txBody>
          <a:bodyPr spcFirstLastPara="1" wrap="square" lIns="0" tIns="3888000" rIns="1008000" bIns="4320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24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ЗА ВНИМАНИЕ!</a:t>
            </a:r>
            <a:endParaRPr lang="ru-RU" sz="13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2296511" y="5454869"/>
            <a:ext cx="9895490" cy="1315471"/>
          </a:xfrm>
          <a:prstGeom prst="rect">
            <a:avLst/>
          </a:prstGeom>
          <a:solidFill>
            <a:srgbClr val="A3CCEE"/>
          </a:solidFill>
          <a:ln>
            <a:noFill/>
          </a:ln>
        </p:spPr>
        <p:txBody>
          <a:bodyPr spcFirstLastPara="1" wrap="square" lIns="144000" tIns="45700" rIns="91425" bIns="45700" anchor="ctr" anchorCtr="0">
            <a:no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Александр Дмитриевич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Александр Викторович</a:t>
            </a: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20.06.2026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МФТИ, Долгопрудный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3">
            <a:alphaModFix/>
          </a:blip>
          <a:srcRect r="24725"/>
          <a:stretch/>
        </p:blipFill>
        <p:spPr>
          <a:xfrm>
            <a:off x="44654" y="5498698"/>
            <a:ext cx="2198664" cy="12716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6219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6249" y="6335485"/>
            <a:ext cx="486889" cy="290946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7.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B043D11-CBB7-4E9B-AEA4-043B1DE73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30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451E009-4FBC-47D6-BA0A-8FD9572F5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28" y="1752771"/>
            <a:ext cx="11168743" cy="3352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8.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45C2EA-E2D2-4653-A90C-B1D191423A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630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394374" y="6335486"/>
            <a:ext cx="498764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9. Значимость различий: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6D4E7CD-E2A0-4330-98E4-CC2B82720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062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30000" y="6335486"/>
            <a:ext cx="463138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10. Значимость различий после очистки: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35A8FF3-B00C-4977-A52F-73B9C4A9F5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522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364686" y="6335486"/>
            <a:ext cx="528452" cy="243444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451E009-4FBC-47D6-BA0A-8FD9572F5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28" y="1752771"/>
            <a:ext cx="11168743" cy="3352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11. Значимость различий после очистки 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711AAB5-8649-4AAB-915E-5AFDDF354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1748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Значимость различий: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0312" y="6335486"/>
            <a:ext cx="492826" cy="22563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25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12. Значимость различий после очистки 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2EEBD35-15DE-4F46-B339-D72004FD4C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71"/>
            <a:ext cx="12192000" cy="3352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6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35938" y="6335486"/>
            <a:ext cx="457200" cy="22563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26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13.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D7BD25D-D266-47F5-8D65-C5C453701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996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41875" y="6335486"/>
            <a:ext cx="451263" cy="219693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27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14.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A1E121D-00BE-4D0F-882C-77FB3D86B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8691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полиномиальные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18125" y="6335486"/>
            <a:ext cx="475013" cy="219693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28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15.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3A967A-7205-4B0B-AAF2-6C4B636B9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49176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901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12187" y="6335486"/>
            <a:ext cx="480951" cy="231569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29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16.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5-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fold CV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D9DE83-D793-45F4-B796-131B5C675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4941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06249" y="6335486"/>
            <a:ext cx="486889" cy="249382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30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17.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en-US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LOOCV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9DDDDBE-29F1-41A2-8E23-23ED2629F1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2669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Размер эффекта: гетерогенные данные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34110" cy="246600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31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01844-7975-497F-A5E0-617AB2FBAAC6}"/>
              </a:ext>
            </a:extLst>
          </p:cNvPr>
          <p:cNvSpPr txBox="1"/>
          <p:nvPr/>
        </p:nvSpPr>
        <p:spPr>
          <a:xfrm>
            <a:off x="3048495" y="5283359"/>
            <a:ext cx="6095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18.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Размер эффекта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: Энтропия </a:t>
            </a:r>
            <a:r>
              <a:rPr lang="ru-RU" sz="1600" dirty="0" err="1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vs</a:t>
            </a:r>
            <a:r>
              <a:rPr lang="ru-RU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 </a:t>
            </a:r>
            <a:r>
              <a:rPr lang="ru-RU" sz="1600" dirty="0">
                <a:latin typeface="Times New Roman" panose="02020603050405020304" pitchFamily="18" charset="0"/>
                <a:ea typeface="DengXian" panose="02010600030101010101" pitchFamily="2" charset="-122"/>
              </a:rPr>
              <a:t>Правило </a:t>
            </a:r>
            <a:r>
              <a:rPr lang="ru-RU" sz="1600" dirty="0" err="1">
                <a:latin typeface="Times New Roman" panose="02020603050405020304" pitchFamily="18" charset="0"/>
                <a:ea typeface="DengXian" panose="02010600030101010101" pitchFamily="2" charset="-122"/>
              </a:rPr>
              <a:t>Сильвермана</a:t>
            </a:r>
            <a:endParaRPr lang="ru-RU" sz="1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A55C00-0B64-4884-927C-06FBC9ACE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1571625"/>
            <a:ext cx="11325225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981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полиномиальных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32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56B3F93-5570-4827-95BC-5244D0019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385" y="1111950"/>
            <a:ext cx="9420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461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полиномиальных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33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316E250-879B-4604-AD0C-D79D4C161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587" y="1102688"/>
            <a:ext cx="9158825" cy="546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4750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гетерогенных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34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44854A7-FD00-465B-8EA4-C8BECB9226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191" y="1076324"/>
            <a:ext cx="9420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382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гетерогенных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35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4BC1E66-A483-410A-94BB-70F4794FD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999" y="1101684"/>
            <a:ext cx="94202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8093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492d22b61_0_21"/>
          <p:cNvSpPr/>
          <p:nvPr/>
        </p:nvSpPr>
        <p:spPr>
          <a:xfrm>
            <a:off x="31751" y="20807"/>
            <a:ext cx="9921900" cy="9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200" b="0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Сравнений регрессий на реальных данных</a:t>
            </a:r>
          </a:p>
        </p:txBody>
      </p:sp>
      <p:pic>
        <p:nvPicPr>
          <p:cNvPr id="97" name="Google Shape;97;g2a492d22b61_0_21"/>
          <p:cNvPicPr preferRelativeResize="0"/>
          <p:nvPr/>
        </p:nvPicPr>
        <p:blipFill rotWithShape="1">
          <a:blip r:embed="rId3">
            <a:alphaModFix/>
          </a:blip>
          <a:srcRect t="14402" r="2930" b="17663"/>
          <a:stretch/>
        </p:blipFill>
        <p:spPr>
          <a:xfrm>
            <a:off x="9999548" y="20807"/>
            <a:ext cx="2160701" cy="92891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492d22b61_0_21"/>
          <p:cNvSpPr/>
          <p:nvPr/>
        </p:nvSpPr>
        <p:spPr>
          <a:xfrm>
            <a:off x="11459028" y="6335486"/>
            <a:ext cx="483404" cy="231011"/>
          </a:xfrm>
          <a:prstGeom prst="rect">
            <a:avLst/>
          </a:prstGeom>
          <a:solidFill>
            <a:srgbClr val="4C79B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36</a:t>
            </a:fld>
            <a:endParaRPr sz="18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E4FBC34-7CCD-4DFC-BD64-07F3074371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1817" y="949607"/>
            <a:ext cx="8568366" cy="569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0191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C79BC"/>
      </a:accent1>
      <a:accent2>
        <a:srgbClr val="FF9919"/>
      </a:accent2>
      <a:accent3>
        <a:srgbClr val="99E6FF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</TotalTime>
  <Words>1417</Words>
  <Application>Microsoft Office PowerPoint</Application>
  <PresentationFormat>Широкоэкранный</PresentationFormat>
  <Paragraphs>215</Paragraphs>
  <Slides>36</Slides>
  <Notes>36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43" baseType="lpstr">
      <vt:lpstr>Arial</vt:lpstr>
      <vt:lpstr>Cambria Math</vt:lpstr>
      <vt:lpstr>Times New Roman</vt:lpstr>
      <vt:lpstr>Corbel</vt:lpstr>
      <vt:lpstr>Montserrat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Diana Ravilova</dc:creator>
  <cp:lastModifiedBy>Александр Анфимов</cp:lastModifiedBy>
  <cp:revision>26</cp:revision>
  <dcterms:created xsi:type="dcterms:W3CDTF">2024-12-20T14:21:21Z</dcterms:created>
  <dcterms:modified xsi:type="dcterms:W3CDTF">2026-06-15T14:38:48Z</dcterms:modified>
</cp:coreProperties>
</file>